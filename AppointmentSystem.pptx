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9144000" cy="6858000" type="screen4x3"/>
  <p:notesSz cx="9144000" cy="6858000"/>
  <p:defaultTextStyle>
    <a:defPPr>
      <a:defRPr kern="0"/>
    </a:def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1" d="100"/>
          <a:sy n="81" d="100"/>
        </p:scale>
        <p:origin x="1498" y="53"/>
      </p:cViewPr>
      <p:guideLst>
        <p:guide orient="horz" pos="2880"/>
        <p:guide pos="216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hikaasija@gmail.com" userId="38da0e0bd5f44d1a" providerId="LiveId" clId="{3D2B2DE8-7D90-4211-B520-83983B6D85D7}"/>
    <pc:docChg chg="undo custSel modSld">
      <pc:chgData name="anshikaasija@gmail.com" userId="38da0e0bd5f44d1a" providerId="LiveId" clId="{3D2B2DE8-7D90-4211-B520-83983B6D85D7}" dt="2025-11-18T11:08:15.248" v="4" actId="6549"/>
      <pc:docMkLst>
        <pc:docMk/>
      </pc:docMkLst>
      <pc:sldChg chg="modSp mod">
        <pc:chgData name="anshikaasija@gmail.com" userId="38da0e0bd5f44d1a" providerId="LiveId" clId="{3D2B2DE8-7D90-4211-B520-83983B6D85D7}" dt="2025-11-18T09:02:28.850" v="3" actId="5793"/>
        <pc:sldMkLst>
          <pc:docMk/>
          <pc:sldMk cId="0" sldId="261"/>
        </pc:sldMkLst>
        <pc:spChg chg="mod">
          <ac:chgData name="anshikaasija@gmail.com" userId="38da0e0bd5f44d1a" providerId="LiveId" clId="{3D2B2DE8-7D90-4211-B520-83983B6D85D7}" dt="2025-11-18T09:02:28.850" v="3" actId="5793"/>
          <ac:spMkLst>
            <pc:docMk/>
            <pc:sldMk cId="0" sldId="261"/>
            <ac:spMk id="3" creationId="{00000000-0000-0000-0000-000000000000}"/>
          </ac:spMkLst>
        </pc:spChg>
      </pc:sldChg>
      <pc:sldChg chg="modSp mod">
        <pc:chgData name="anshikaasija@gmail.com" userId="38da0e0bd5f44d1a" providerId="LiveId" clId="{3D2B2DE8-7D90-4211-B520-83983B6D85D7}" dt="2025-11-18T11:08:15.248" v="4" actId="6549"/>
        <pc:sldMkLst>
          <pc:docMk/>
          <pc:sldMk cId="0" sldId="262"/>
        </pc:sldMkLst>
        <pc:spChg chg="mod">
          <ac:chgData name="anshikaasija@gmail.com" userId="38da0e0bd5f44d1a" providerId="LiveId" clId="{3D2B2DE8-7D90-4211-B520-83983B6D85D7}" dt="2025-11-18T11:08:15.248" v="4" actId="6549"/>
          <ac:spMkLst>
            <pc:docMk/>
            <pc:sldMk cId="0" sldId="262"/>
            <ac:spMk id="3" creationId="{00000000-0000-0000-0000-000000000000}"/>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685800" y="2125980"/>
            <a:ext cx="7772400" cy="1440180"/>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subTitle" idx="4"/>
          </p:nvPr>
        </p:nvSpPr>
        <p:spPr>
          <a:xfrm>
            <a:off x="1371600" y="3840480"/>
            <a:ext cx="6400800" cy="1714500"/>
          </a:xfrm>
          <a:prstGeom prst="rect">
            <a:avLst/>
          </a:prstGeom>
        </p:spPr>
        <p:txBody>
          <a:bodyPr wrap="square" lIns="0" tIns="0" rIns="0" bIns="0">
            <a:spAutoFit/>
          </a:bodyPr>
          <a:lstStyle>
            <a:lvl1pPr>
              <a:defRPr sz="1600" b="1" i="0">
                <a:solidFill>
                  <a:srgbClr val="2D2D2D"/>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12/22/2025</a:t>
            </a:fld>
            <a:endParaRPr lang="en-US"/>
          </a:p>
        </p:txBody>
      </p:sp>
      <p:sp>
        <p:nvSpPr>
          <p:cNvPr id="6" name="Holder 6"/>
          <p:cNvSpPr>
            <a:spLocks noGrp="1"/>
          </p:cNvSpPr>
          <p:nvPr>
            <p:ph type="sldNum" sz="quarter" idx="7"/>
          </p:nvPr>
        </p:nvSpPr>
        <p:spPr/>
        <p:txBody>
          <a:bodyPr lIns="0" tIns="0" rIns="0" bIns="0"/>
          <a:lstStyle>
            <a:lvl1pPr>
              <a:defRPr sz="1200" b="1" i="0">
                <a:solidFill>
                  <a:srgbClr val="006FC0"/>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p:txBody>
          <a:bodyPr lIns="0" tIns="0" rIns="0" bIns="0"/>
          <a:lstStyle>
            <a:lvl1pPr>
              <a:defRPr sz="1600" b="1" i="0">
                <a:solidFill>
                  <a:srgbClr val="2D2D2D"/>
                </a:solidFill>
                <a:latin typeface="Times New Roman"/>
                <a:cs typeface="Times New Roman"/>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12/22/2025</a:t>
            </a:fld>
            <a:endParaRPr lang="en-US"/>
          </a:p>
        </p:txBody>
      </p:sp>
      <p:sp>
        <p:nvSpPr>
          <p:cNvPr id="6" name="Holder 6"/>
          <p:cNvSpPr>
            <a:spLocks noGrp="1"/>
          </p:cNvSpPr>
          <p:nvPr>
            <p:ph type="sldNum" sz="quarter" idx="7"/>
          </p:nvPr>
        </p:nvSpPr>
        <p:spPr/>
        <p:txBody>
          <a:bodyPr lIns="0" tIns="0" rIns="0" bIns="0"/>
          <a:lstStyle>
            <a:lvl1pPr>
              <a:defRPr sz="1200" b="1" i="0">
                <a:solidFill>
                  <a:srgbClr val="006FC0"/>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sz="half" idx="2"/>
          </p:nvPr>
        </p:nvSpPr>
        <p:spPr>
          <a:xfrm>
            <a:off x="457200" y="1577340"/>
            <a:ext cx="3977640" cy="4526280"/>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4709160" y="1577340"/>
            <a:ext cx="3977640" cy="4526280"/>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12/22/2025</a:t>
            </a:fld>
            <a:endParaRPr lang="en-US"/>
          </a:p>
        </p:txBody>
      </p:sp>
      <p:sp>
        <p:nvSpPr>
          <p:cNvPr id="7" name="Holder 7"/>
          <p:cNvSpPr>
            <a:spLocks noGrp="1"/>
          </p:cNvSpPr>
          <p:nvPr>
            <p:ph type="sldNum" sz="quarter" idx="7"/>
          </p:nvPr>
        </p:nvSpPr>
        <p:spPr/>
        <p:txBody>
          <a:bodyPr lIns="0" tIns="0" rIns="0" bIns="0"/>
          <a:lstStyle>
            <a:lvl1pPr>
              <a:defRPr sz="1200" b="1" i="0">
                <a:solidFill>
                  <a:srgbClr val="006FC0"/>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12/22/2025</a:t>
            </a:fld>
            <a:endParaRPr lang="en-US"/>
          </a:p>
        </p:txBody>
      </p:sp>
      <p:sp>
        <p:nvSpPr>
          <p:cNvPr id="5" name="Holder 5"/>
          <p:cNvSpPr>
            <a:spLocks noGrp="1"/>
          </p:cNvSpPr>
          <p:nvPr>
            <p:ph type="sldNum" sz="quarter" idx="7"/>
          </p:nvPr>
        </p:nvSpPr>
        <p:spPr/>
        <p:txBody>
          <a:bodyPr lIns="0" tIns="0" rIns="0" bIns="0"/>
          <a:lstStyle>
            <a:lvl1pPr>
              <a:defRPr sz="1200" b="1" i="0">
                <a:solidFill>
                  <a:srgbClr val="006FC0"/>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12/22/2025</a:t>
            </a:fld>
            <a:endParaRPr lang="en-US"/>
          </a:p>
        </p:txBody>
      </p:sp>
      <p:sp>
        <p:nvSpPr>
          <p:cNvPr id="4" name="Holder 4"/>
          <p:cNvSpPr>
            <a:spLocks noGrp="1"/>
          </p:cNvSpPr>
          <p:nvPr>
            <p:ph type="sldNum" sz="quarter" idx="7"/>
          </p:nvPr>
        </p:nvSpPr>
        <p:spPr/>
        <p:txBody>
          <a:bodyPr lIns="0" tIns="0" rIns="0" bIns="0"/>
          <a:lstStyle>
            <a:lvl1pPr>
              <a:defRPr sz="1200" b="1" i="0">
                <a:solidFill>
                  <a:srgbClr val="006FC0"/>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3.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0" y="0"/>
            <a:ext cx="9144000" cy="838200"/>
          </a:xfrm>
          <a:custGeom>
            <a:avLst/>
            <a:gdLst/>
            <a:ahLst/>
            <a:cxnLst/>
            <a:rect l="l" t="t" r="r" b="b"/>
            <a:pathLst>
              <a:path w="9144000" h="838200">
                <a:moveTo>
                  <a:pt x="9144000" y="0"/>
                </a:moveTo>
                <a:lnTo>
                  <a:pt x="0" y="0"/>
                </a:lnTo>
                <a:lnTo>
                  <a:pt x="0" y="838200"/>
                </a:lnTo>
                <a:lnTo>
                  <a:pt x="9144000" y="838200"/>
                </a:lnTo>
                <a:lnTo>
                  <a:pt x="9144000" y="0"/>
                </a:lnTo>
                <a:close/>
              </a:path>
            </a:pathLst>
          </a:custGeom>
          <a:solidFill>
            <a:srgbClr val="FF3300"/>
          </a:solidFill>
        </p:spPr>
        <p:txBody>
          <a:bodyPr wrap="square" lIns="0" tIns="0" rIns="0" bIns="0" rtlCol="0"/>
          <a:lstStyle/>
          <a:p>
            <a:endParaRPr/>
          </a:p>
        </p:txBody>
      </p:sp>
      <p:sp>
        <p:nvSpPr>
          <p:cNvPr id="17" name="bg object 17"/>
          <p:cNvSpPr/>
          <p:nvPr/>
        </p:nvSpPr>
        <p:spPr>
          <a:xfrm>
            <a:off x="0" y="6705596"/>
            <a:ext cx="9144000" cy="152400"/>
          </a:xfrm>
          <a:custGeom>
            <a:avLst/>
            <a:gdLst/>
            <a:ahLst/>
            <a:cxnLst/>
            <a:rect l="l" t="t" r="r" b="b"/>
            <a:pathLst>
              <a:path w="9144000" h="152400">
                <a:moveTo>
                  <a:pt x="9144000" y="0"/>
                </a:moveTo>
                <a:lnTo>
                  <a:pt x="0" y="0"/>
                </a:lnTo>
                <a:lnTo>
                  <a:pt x="0" y="152403"/>
                </a:lnTo>
                <a:lnTo>
                  <a:pt x="9144000" y="152403"/>
                </a:lnTo>
                <a:lnTo>
                  <a:pt x="9144000" y="0"/>
                </a:lnTo>
                <a:close/>
              </a:path>
            </a:pathLst>
          </a:custGeom>
          <a:solidFill>
            <a:srgbClr val="FF0000"/>
          </a:solidFill>
        </p:spPr>
        <p:txBody>
          <a:bodyPr wrap="square" lIns="0" tIns="0" rIns="0" bIns="0" rtlCol="0"/>
          <a:lstStyle/>
          <a:p>
            <a:endParaRPr/>
          </a:p>
        </p:txBody>
      </p:sp>
      <p:pic>
        <p:nvPicPr>
          <p:cNvPr id="18" name="bg object 18"/>
          <p:cNvPicPr/>
          <p:nvPr/>
        </p:nvPicPr>
        <p:blipFill>
          <a:blip r:embed="rId7" cstate="print"/>
          <a:stretch>
            <a:fillRect/>
          </a:stretch>
        </p:blipFill>
        <p:spPr>
          <a:xfrm>
            <a:off x="6553200" y="228600"/>
            <a:ext cx="2057400" cy="635000"/>
          </a:xfrm>
          <a:prstGeom prst="rect">
            <a:avLst/>
          </a:prstGeom>
        </p:spPr>
      </p:pic>
      <p:sp>
        <p:nvSpPr>
          <p:cNvPr id="19" name="bg object 19"/>
          <p:cNvSpPr/>
          <p:nvPr/>
        </p:nvSpPr>
        <p:spPr>
          <a:xfrm>
            <a:off x="6146800" y="0"/>
            <a:ext cx="2997200" cy="838200"/>
          </a:xfrm>
          <a:custGeom>
            <a:avLst/>
            <a:gdLst/>
            <a:ahLst/>
            <a:cxnLst/>
            <a:rect l="l" t="t" r="r" b="b"/>
            <a:pathLst>
              <a:path w="2997200" h="838200">
                <a:moveTo>
                  <a:pt x="2997200" y="0"/>
                </a:moveTo>
                <a:lnTo>
                  <a:pt x="0" y="0"/>
                </a:lnTo>
                <a:lnTo>
                  <a:pt x="0" y="838200"/>
                </a:lnTo>
                <a:lnTo>
                  <a:pt x="2997200" y="838200"/>
                </a:lnTo>
                <a:lnTo>
                  <a:pt x="2997200" y="0"/>
                </a:lnTo>
                <a:close/>
              </a:path>
            </a:pathLst>
          </a:custGeom>
          <a:solidFill>
            <a:srgbClr val="FF3300"/>
          </a:solidFill>
        </p:spPr>
        <p:txBody>
          <a:bodyPr wrap="square" lIns="0" tIns="0" rIns="0" bIns="0" rtlCol="0"/>
          <a:lstStyle/>
          <a:p>
            <a:endParaRPr/>
          </a:p>
        </p:txBody>
      </p:sp>
      <p:pic>
        <p:nvPicPr>
          <p:cNvPr id="20" name="bg object 20"/>
          <p:cNvPicPr/>
          <p:nvPr/>
        </p:nvPicPr>
        <p:blipFill>
          <a:blip r:embed="rId8" cstate="print"/>
          <a:stretch>
            <a:fillRect/>
          </a:stretch>
        </p:blipFill>
        <p:spPr>
          <a:xfrm>
            <a:off x="6553200" y="228600"/>
            <a:ext cx="2057400" cy="635000"/>
          </a:xfrm>
          <a:prstGeom prst="rect">
            <a:avLst/>
          </a:prstGeom>
        </p:spPr>
      </p:pic>
      <p:sp>
        <p:nvSpPr>
          <p:cNvPr id="21" name="bg object 21"/>
          <p:cNvSpPr/>
          <p:nvPr/>
        </p:nvSpPr>
        <p:spPr>
          <a:xfrm>
            <a:off x="6527800" y="190500"/>
            <a:ext cx="2076450" cy="685800"/>
          </a:xfrm>
          <a:custGeom>
            <a:avLst/>
            <a:gdLst/>
            <a:ahLst/>
            <a:cxnLst/>
            <a:rect l="l" t="t" r="r" b="b"/>
            <a:pathLst>
              <a:path w="2076450" h="685800">
                <a:moveTo>
                  <a:pt x="2076450" y="0"/>
                </a:moveTo>
                <a:lnTo>
                  <a:pt x="0" y="0"/>
                </a:lnTo>
                <a:lnTo>
                  <a:pt x="0" y="685800"/>
                </a:lnTo>
                <a:lnTo>
                  <a:pt x="2076450" y="685800"/>
                </a:lnTo>
                <a:lnTo>
                  <a:pt x="2076450" y="0"/>
                </a:lnTo>
                <a:close/>
              </a:path>
            </a:pathLst>
          </a:custGeom>
          <a:solidFill>
            <a:srgbClr val="FFFFFF"/>
          </a:solidFill>
        </p:spPr>
        <p:txBody>
          <a:bodyPr wrap="square" lIns="0" tIns="0" rIns="0" bIns="0" rtlCol="0"/>
          <a:lstStyle/>
          <a:p>
            <a:endParaRPr/>
          </a:p>
        </p:txBody>
      </p:sp>
      <p:pic>
        <p:nvPicPr>
          <p:cNvPr id="22" name="bg object 22"/>
          <p:cNvPicPr/>
          <p:nvPr/>
        </p:nvPicPr>
        <p:blipFill>
          <a:blip r:embed="rId9" cstate="print"/>
          <a:stretch>
            <a:fillRect/>
          </a:stretch>
        </p:blipFill>
        <p:spPr>
          <a:xfrm>
            <a:off x="6553200" y="228600"/>
            <a:ext cx="1920240" cy="609600"/>
          </a:xfrm>
          <a:prstGeom prst="rect">
            <a:avLst/>
          </a:prstGeom>
        </p:spPr>
      </p:pic>
      <p:sp>
        <p:nvSpPr>
          <p:cNvPr id="2" name="Holder 2"/>
          <p:cNvSpPr>
            <a:spLocks noGrp="1"/>
          </p:cNvSpPr>
          <p:nvPr>
            <p:ph type="title"/>
          </p:nvPr>
        </p:nvSpPr>
        <p:spPr>
          <a:xfrm>
            <a:off x="355803" y="61925"/>
            <a:ext cx="4366158" cy="639064"/>
          </a:xfrm>
          <a:prstGeom prst="rect">
            <a:avLst/>
          </a:prstGeom>
        </p:spPr>
        <p:txBody>
          <a:bodyPr wrap="square" lIns="0" tIns="0" rIns="0" bIns="0">
            <a:spAutoFit/>
          </a:bodyPr>
          <a:lstStyle>
            <a:lvl1pPr>
              <a:defRPr sz="3200" b="1" i="0">
                <a:solidFill>
                  <a:schemeClr val="tx1"/>
                </a:solidFill>
                <a:latin typeface="Times New Roman"/>
                <a:cs typeface="Times New Roman"/>
              </a:defRPr>
            </a:lvl1pPr>
          </a:lstStyle>
          <a:p>
            <a:endParaRPr/>
          </a:p>
        </p:txBody>
      </p:sp>
      <p:sp>
        <p:nvSpPr>
          <p:cNvPr id="3" name="Holder 3"/>
          <p:cNvSpPr>
            <a:spLocks noGrp="1"/>
          </p:cNvSpPr>
          <p:nvPr>
            <p:ph type="body" idx="1"/>
          </p:nvPr>
        </p:nvSpPr>
        <p:spPr>
          <a:xfrm>
            <a:off x="638048" y="1474978"/>
            <a:ext cx="7969250" cy="2845435"/>
          </a:xfrm>
          <a:prstGeom prst="rect">
            <a:avLst/>
          </a:prstGeom>
        </p:spPr>
        <p:txBody>
          <a:bodyPr wrap="square" lIns="0" tIns="0" rIns="0" bIns="0">
            <a:spAutoFit/>
          </a:bodyPr>
          <a:lstStyle>
            <a:lvl1pPr>
              <a:defRPr sz="1600" b="1" i="0">
                <a:solidFill>
                  <a:srgbClr val="2D2D2D"/>
                </a:solidFill>
                <a:latin typeface="Times New Roman"/>
                <a:cs typeface="Times New Roman"/>
              </a:defRPr>
            </a:lvl1pPr>
          </a:lstStyle>
          <a:p>
            <a:endParaRPr/>
          </a:p>
        </p:txBody>
      </p:sp>
      <p:sp>
        <p:nvSpPr>
          <p:cNvPr id="4" name="Holder 4"/>
          <p:cNvSpPr>
            <a:spLocks noGrp="1"/>
          </p:cNvSpPr>
          <p:nvPr>
            <p:ph type="ftr" sz="quarter" idx="5"/>
          </p:nvPr>
        </p:nvSpPr>
        <p:spPr>
          <a:xfrm>
            <a:off x="3108960" y="6377940"/>
            <a:ext cx="2926080" cy="3429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457200" y="6377940"/>
            <a:ext cx="2103120" cy="3429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12/22/2025</a:t>
            </a:fld>
            <a:endParaRPr lang="en-US"/>
          </a:p>
        </p:txBody>
      </p:sp>
      <p:sp>
        <p:nvSpPr>
          <p:cNvPr id="6" name="Holder 6"/>
          <p:cNvSpPr>
            <a:spLocks noGrp="1"/>
          </p:cNvSpPr>
          <p:nvPr>
            <p:ph type="sldNum" sz="quarter" idx="7"/>
          </p:nvPr>
        </p:nvSpPr>
        <p:spPr>
          <a:xfrm>
            <a:off x="8430006" y="6447704"/>
            <a:ext cx="215900" cy="194945"/>
          </a:xfrm>
          <a:prstGeom prst="rect">
            <a:avLst/>
          </a:prstGeom>
        </p:spPr>
        <p:txBody>
          <a:bodyPr wrap="square" lIns="0" tIns="0" rIns="0" bIns="0">
            <a:spAutoFit/>
          </a:bodyPr>
          <a:lstStyle>
            <a:lvl1pPr>
              <a:defRPr sz="1200" b="1" i="0">
                <a:solidFill>
                  <a:srgbClr val="006FC0"/>
                </a:solidFill>
                <a:latin typeface="Times New Roman"/>
                <a:cs typeface="Times New Roman"/>
              </a:defRPr>
            </a:lvl1pPr>
          </a:lstStyle>
          <a:p>
            <a:pPr marL="12700">
              <a:lnSpc>
                <a:spcPts val="1410"/>
              </a:lnSpc>
            </a:pPr>
            <a:fld id="{81D60167-4931-47E6-BA6A-407CBD079E47}" type="slidenum">
              <a:rPr spc="-25" dirty="0"/>
              <a:t>‹#›</a:t>
            </a:fld>
            <a:endParaRPr spc="-25"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4.xml"/><Relationship Id="rId4" Type="http://schemas.openxmlformats.org/officeDocument/2006/relationships/image" Target="../media/image6.jpeg"/></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hyperlink" Target="http://www.geeksforgeeks.org/" TargetMode="External"/><Relationship Id="rId2" Type="http://schemas.openxmlformats.org/officeDocument/2006/relationships/hyperlink" Target="https://www.google.com/" TargetMode="External"/><Relationship Id="rId1" Type="http://schemas.openxmlformats.org/officeDocument/2006/relationships/slideLayout" Target="../slideLayouts/slideLayout2.xml"/><Relationship Id="rId4" Type="http://schemas.openxmlformats.org/officeDocument/2006/relationships/hyperlink" Target="https://chat.openai.com/" TargetMode="Externa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2737485" y="1150365"/>
            <a:ext cx="3380104" cy="299720"/>
          </a:xfrm>
          <a:prstGeom prst="rect">
            <a:avLst/>
          </a:prstGeom>
        </p:spPr>
        <p:txBody>
          <a:bodyPr vert="horz" wrap="square" lIns="0" tIns="12700" rIns="0" bIns="0" rtlCol="0">
            <a:spAutoFit/>
          </a:bodyPr>
          <a:lstStyle/>
          <a:p>
            <a:pPr marL="12700">
              <a:lnSpc>
                <a:spcPct val="100000"/>
              </a:lnSpc>
              <a:spcBef>
                <a:spcPts val="100"/>
              </a:spcBef>
            </a:pPr>
            <a:r>
              <a:rPr sz="1800" b="1" dirty="0">
                <a:latin typeface="Times New Roman"/>
                <a:cs typeface="Times New Roman"/>
              </a:rPr>
              <a:t>Presentation</a:t>
            </a:r>
            <a:r>
              <a:rPr sz="1800" b="1" spc="-25" dirty="0">
                <a:latin typeface="Times New Roman"/>
                <a:cs typeface="Times New Roman"/>
              </a:rPr>
              <a:t> </a:t>
            </a:r>
            <a:r>
              <a:rPr sz="1800" b="1" dirty="0">
                <a:latin typeface="Times New Roman"/>
                <a:cs typeface="Times New Roman"/>
              </a:rPr>
              <a:t>on</a:t>
            </a:r>
            <a:r>
              <a:rPr sz="1800" b="1" spc="-5" dirty="0">
                <a:latin typeface="Times New Roman"/>
                <a:cs typeface="Times New Roman"/>
              </a:rPr>
              <a:t> </a:t>
            </a:r>
            <a:r>
              <a:rPr sz="1800" b="1" dirty="0">
                <a:latin typeface="Times New Roman"/>
                <a:cs typeface="Times New Roman"/>
              </a:rPr>
              <a:t>Full</a:t>
            </a:r>
            <a:r>
              <a:rPr sz="1800" b="1" spc="-10" dirty="0">
                <a:latin typeface="Times New Roman"/>
                <a:cs typeface="Times New Roman"/>
              </a:rPr>
              <a:t> </a:t>
            </a:r>
            <a:r>
              <a:rPr sz="1800" b="1" dirty="0">
                <a:latin typeface="Times New Roman"/>
                <a:cs typeface="Times New Roman"/>
              </a:rPr>
              <a:t>Stack</a:t>
            </a:r>
            <a:r>
              <a:rPr sz="1800" b="1" spc="-25" dirty="0">
                <a:latin typeface="Times New Roman"/>
                <a:cs typeface="Times New Roman"/>
              </a:rPr>
              <a:t> </a:t>
            </a:r>
            <a:r>
              <a:rPr sz="1800" b="1" spc="-10" dirty="0">
                <a:latin typeface="Times New Roman"/>
                <a:cs typeface="Times New Roman"/>
              </a:rPr>
              <a:t>Project</a:t>
            </a:r>
            <a:endParaRPr sz="1800">
              <a:latin typeface="Times New Roman"/>
              <a:cs typeface="Times New Roman"/>
            </a:endParaRPr>
          </a:p>
        </p:txBody>
      </p:sp>
      <p:sp>
        <p:nvSpPr>
          <p:cNvPr id="5" name="object 5"/>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a:t>
            </a:fld>
            <a:endParaRPr spc="-25" dirty="0"/>
          </a:p>
        </p:txBody>
      </p:sp>
      <p:sp>
        <p:nvSpPr>
          <p:cNvPr id="3" name="object 3"/>
          <p:cNvSpPr txBox="1">
            <a:spLocks noGrp="1"/>
          </p:cNvSpPr>
          <p:nvPr>
            <p:ph type="title"/>
          </p:nvPr>
        </p:nvSpPr>
        <p:spPr>
          <a:xfrm>
            <a:off x="3776853" y="1412189"/>
            <a:ext cx="1300480" cy="697230"/>
          </a:xfrm>
          <a:prstGeom prst="rect">
            <a:avLst/>
          </a:prstGeom>
        </p:spPr>
        <p:txBody>
          <a:bodyPr vert="horz" wrap="square" lIns="0" tIns="13335" rIns="0" bIns="0" rtlCol="0">
            <a:spAutoFit/>
          </a:bodyPr>
          <a:lstStyle/>
          <a:p>
            <a:pPr marL="12700">
              <a:lnSpc>
                <a:spcPct val="100000"/>
              </a:lnSpc>
              <a:spcBef>
                <a:spcPts val="105"/>
              </a:spcBef>
            </a:pPr>
            <a:r>
              <a:rPr sz="4400" b="0" i="1" spc="-10" dirty="0">
                <a:latin typeface="Times New Roman"/>
                <a:cs typeface="Times New Roman"/>
              </a:rPr>
              <a:t>Topic</a:t>
            </a:r>
            <a:endParaRPr sz="4400">
              <a:latin typeface="Times New Roman"/>
              <a:cs typeface="Times New Roman"/>
            </a:endParaRPr>
          </a:p>
        </p:txBody>
      </p:sp>
      <p:sp>
        <p:nvSpPr>
          <p:cNvPr id="4" name="object 4"/>
          <p:cNvSpPr txBox="1"/>
          <p:nvPr/>
        </p:nvSpPr>
        <p:spPr>
          <a:xfrm>
            <a:off x="1322958" y="2093188"/>
            <a:ext cx="6209030" cy="4073744"/>
          </a:xfrm>
          <a:prstGeom prst="rect">
            <a:avLst/>
          </a:prstGeom>
        </p:spPr>
        <p:txBody>
          <a:bodyPr vert="horz" wrap="square" lIns="0" tIns="12700" rIns="0" bIns="0" rtlCol="0">
            <a:spAutoFit/>
          </a:bodyPr>
          <a:lstStyle/>
          <a:p>
            <a:pPr marL="12065" marR="5080" algn="ctr">
              <a:lnSpc>
                <a:spcPct val="117000"/>
              </a:lnSpc>
              <a:spcBef>
                <a:spcPts val="100"/>
              </a:spcBef>
            </a:pPr>
            <a:r>
              <a:rPr lang="en-IN" sz="2000" spc="-25" dirty="0">
                <a:latin typeface="Times New Roman"/>
                <a:cs typeface="Times New Roman"/>
              </a:rPr>
              <a:t>Appointment Booking System</a:t>
            </a:r>
          </a:p>
          <a:p>
            <a:pPr marL="12065" marR="5080" algn="ctr">
              <a:lnSpc>
                <a:spcPct val="117000"/>
              </a:lnSpc>
              <a:spcBef>
                <a:spcPts val="100"/>
              </a:spcBef>
            </a:pPr>
            <a:r>
              <a:rPr sz="2000" spc="-25" dirty="0">
                <a:latin typeface="Times New Roman"/>
                <a:cs typeface="Times New Roman"/>
              </a:rPr>
              <a:t>by</a:t>
            </a:r>
            <a:endParaRPr sz="2000" dirty="0">
              <a:latin typeface="Times New Roman"/>
              <a:cs typeface="Times New Roman"/>
            </a:endParaRPr>
          </a:p>
          <a:p>
            <a:pPr marL="1905" algn="ctr">
              <a:lnSpc>
                <a:spcPct val="100000"/>
              </a:lnSpc>
              <a:spcBef>
                <a:spcPts val="400"/>
              </a:spcBef>
            </a:pPr>
            <a:r>
              <a:rPr sz="1800" spc="-20" dirty="0">
                <a:latin typeface="Times New Roman"/>
                <a:cs typeface="Times New Roman"/>
              </a:rPr>
              <a:t>G-</a:t>
            </a:r>
            <a:r>
              <a:rPr sz="1800" spc="-25" dirty="0">
                <a:latin typeface="Times New Roman"/>
                <a:cs typeface="Times New Roman"/>
              </a:rPr>
              <a:t>4</a:t>
            </a:r>
            <a:endParaRPr sz="1800" dirty="0">
              <a:latin typeface="Times New Roman"/>
              <a:cs typeface="Times New Roman"/>
            </a:endParaRPr>
          </a:p>
          <a:p>
            <a:pPr marL="1270" algn="ctr">
              <a:lnSpc>
                <a:spcPct val="100000"/>
              </a:lnSpc>
              <a:spcBef>
                <a:spcPts val="400"/>
              </a:spcBef>
            </a:pPr>
            <a:r>
              <a:rPr lang="en-IN" sz="1800" dirty="0">
                <a:latin typeface="Times New Roman"/>
                <a:cs typeface="Times New Roman"/>
              </a:rPr>
              <a:t>Anshika </a:t>
            </a:r>
            <a:r>
              <a:rPr sz="1800" dirty="0">
                <a:latin typeface="Times New Roman"/>
                <a:cs typeface="Times New Roman"/>
              </a:rPr>
              <a:t>:</a:t>
            </a:r>
            <a:r>
              <a:rPr sz="1800" spc="-25" dirty="0">
                <a:latin typeface="Times New Roman"/>
                <a:cs typeface="Times New Roman"/>
              </a:rPr>
              <a:t> </a:t>
            </a:r>
            <a:r>
              <a:rPr sz="1800" spc="-10" dirty="0">
                <a:latin typeface="Times New Roman"/>
                <a:cs typeface="Times New Roman"/>
              </a:rPr>
              <a:t>2</a:t>
            </a:r>
            <a:r>
              <a:rPr lang="en-IN" sz="1800" spc="-10" dirty="0">
                <a:latin typeface="Times New Roman"/>
                <a:cs typeface="Times New Roman"/>
              </a:rPr>
              <a:t>3</a:t>
            </a:r>
            <a:r>
              <a:rPr sz="1800" spc="-10" dirty="0">
                <a:latin typeface="Times New Roman"/>
                <a:cs typeface="Times New Roman"/>
              </a:rPr>
              <a:t>1099</a:t>
            </a:r>
            <a:r>
              <a:rPr lang="en-IN" sz="1800" spc="-10" dirty="0">
                <a:latin typeface="Times New Roman"/>
                <a:cs typeface="Times New Roman"/>
              </a:rPr>
              <a:t>0288</a:t>
            </a:r>
            <a:endParaRPr lang="en-IN" sz="1800" dirty="0">
              <a:latin typeface="Times New Roman"/>
              <a:cs typeface="Times New Roman"/>
            </a:endParaRPr>
          </a:p>
          <a:p>
            <a:pPr marL="1924050" marR="1913889" algn="ctr">
              <a:lnSpc>
                <a:spcPct val="118400"/>
              </a:lnSpc>
              <a:spcBef>
                <a:spcPts val="10"/>
              </a:spcBef>
            </a:pPr>
            <a:r>
              <a:rPr lang="en-IN" sz="1800" dirty="0">
                <a:latin typeface="Times New Roman"/>
                <a:cs typeface="Times New Roman"/>
              </a:rPr>
              <a:t>Anshul :</a:t>
            </a:r>
            <a:r>
              <a:rPr lang="en-IN" sz="1800" spc="-10" dirty="0">
                <a:latin typeface="Times New Roman"/>
                <a:cs typeface="Times New Roman"/>
              </a:rPr>
              <a:t> 2310990289</a:t>
            </a:r>
            <a:endParaRPr lang="en-IN" spc="-10" dirty="0">
              <a:latin typeface="Times New Roman"/>
              <a:cs typeface="Times New Roman"/>
            </a:endParaRPr>
          </a:p>
          <a:p>
            <a:pPr marL="1924050" marR="1913889" algn="ctr">
              <a:lnSpc>
                <a:spcPct val="118400"/>
              </a:lnSpc>
              <a:spcBef>
                <a:spcPts val="10"/>
              </a:spcBef>
            </a:pPr>
            <a:r>
              <a:rPr lang="en-IN" sz="1800" spc="-10" dirty="0">
                <a:latin typeface="Times New Roman"/>
                <a:cs typeface="Times New Roman"/>
              </a:rPr>
              <a:t>Anubhav</a:t>
            </a:r>
            <a:r>
              <a:rPr lang="en-IN" sz="1800" spc="-5" dirty="0">
                <a:latin typeface="Times New Roman"/>
                <a:cs typeface="Times New Roman"/>
              </a:rPr>
              <a:t> </a:t>
            </a:r>
            <a:r>
              <a:rPr lang="en-IN" sz="1800" dirty="0">
                <a:latin typeface="Times New Roman"/>
                <a:cs typeface="Times New Roman"/>
              </a:rPr>
              <a:t>: </a:t>
            </a:r>
            <a:r>
              <a:rPr lang="en-IN" sz="1800" spc="-10" dirty="0">
                <a:latin typeface="Times New Roman"/>
                <a:cs typeface="Times New Roman"/>
              </a:rPr>
              <a:t>2310990290 </a:t>
            </a:r>
            <a:r>
              <a:rPr lang="en-IN" spc="-10" dirty="0">
                <a:latin typeface="Times New Roman"/>
                <a:cs typeface="Times New Roman"/>
              </a:rPr>
              <a:t>Suhani </a:t>
            </a:r>
            <a:r>
              <a:rPr lang="en-IN" sz="1800" spc="-30" dirty="0">
                <a:latin typeface="Times New Roman"/>
                <a:cs typeface="Times New Roman"/>
              </a:rPr>
              <a:t> </a:t>
            </a:r>
            <a:r>
              <a:rPr lang="en-IN" sz="1800" dirty="0">
                <a:latin typeface="Times New Roman"/>
                <a:cs typeface="Times New Roman"/>
              </a:rPr>
              <a:t>:</a:t>
            </a:r>
            <a:r>
              <a:rPr lang="en-IN" sz="1800" spc="-15" dirty="0">
                <a:latin typeface="Times New Roman"/>
                <a:cs typeface="Times New Roman"/>
              </a:rPr>
              <a:t> </a:t>
            </a:r>
            <a:r>
              <a:rPr lang="en-IN" sz="1800" spc="-10" dirty="0">
                <a:latin typeface="Times New Roman"/>
                <a:cs typeface="Times New Roman"/>
              </a:rPr>
              <a:t>2310991059</a:t>
            </a:r>
            <a:endParaRPr lang="en-IN" sz="1800" dirty="0">
              <a:latin typeface="Times New Roman"/>
              <a:cs typeface="Times New Roman"/>
            </a:endParaRPr>
          </a:p>
          <a:p>
            <a:pPr>
              <a:lnSpc>
                <a:spcPct val="100000"/>
              </a:lnSpc>
              <a:spcBef>
                <a:spcPts val="490"/>
              </a:spcBef>
            </a:pPr>
            <a:endParaRPr sz="1800" dirty="0">
              <a:latin typeface="Times New Roman"/>
              <a:cs typeface="Times New Roman"/>
            </a:endParaRPr>
          </a:p>
          <a:p>
            <a:pPr marL="2420620" marR="2412365" algn="ctr">
              <a:lnSpc>
                <a:spcPct val="118500"/>
              </a:lnSpc>
              <a:spcBef>
                <a:spcPts val="5"/>
              </a:spcBef>
            </a:pPr>
            <a:r>
              <a:rPr sz="1800" dirty="0">
                <a:latin typeface="Times New Roman"/>
                <a:cs typeface="Times New Roman"/>
              </a:rPr>
              <a:t>Supervised</a:t>
            </a:r>
            <a:r>
              <a:rPr sz="1800" spc="-90" dirty="0">
                <a:latin typeface="Times New Roman"/>
                <a:cs typeface="Times New Roman"/>
              </a:rPr>
              <a:t> </a:t>
            </a:r>
            <a:r>
              <a:rPr sz="1800" spc="-25" dirty="0">
                <a:latin typeface="Times New Roman"/>
                <a:cs typeface="Times New Roman"/>
              </a:rPr>
              <a:t>by: </a:t>
            </a:r>
            <a:r>
              <a:rPr sz="1800" dirty="0">
                <a:latin typeface="Times New Roman"/>
                <a:cs typeface="Times New Roman"/>
              </a:rPr>
              <a:t>Rahul</a:t>
            </a:r>
            <a:r>
              <a:rPr sz="1800" spc="-50" dirty="0">
                <a:latin typeface="Times New Roman"/>
                <a:cs typeface="Times New Roman"/>
              </a:rPr>
              <a:t> </a:t>
            </a:r>
            <a:r>
              <a:rPr sz="1800" spc="-25" dirty="0">
                <a:latin typeface="Times New Roman"/>
                <a:cs typeface="Times New Roman"/>
              </a:rPr>
              <a:t>Sir</a:t>
            </a:r>
            <a:endParaRPr sz="1800" dirty="0">
              <a:latin typeface="Times New Roman"/>
              <a:cs typeface="Times New Roman"/>
            </a:endParaRPr>
          </a:p>
          <a:p>
            <a:pPr marL="502920" marR="495934" algn="ctr">
              <a:lnSpc>
                <a:spcPct val="116500"/>
              </a:lnSpc>
            </a:pPr>
            <a:r>
              <a:rPr sz="2000" dirty="0">
                <a:latin typeface="Times New Roman"/>
                <a:cs typeface="Times New Roman"/>
              </a:rPr>
              <a:t>Department</a:t>
            </a:r>
            <a:r>
              <a:rPr sz="2000" spc="-40" dirty="0">
                <a:latin typeface="Times New Roman"/>
                <a:cs typeface="Times New Roman"/>
              </a:rPr>
              <a:t> </a:t>
            </a:r>
            <a:r>
              <a:rPr sz="2000" dirty="0">
                <a:latin typeface="Times New Roman"/>
                <a:cs typeface="Times New Roman"/>
              </a:rPr>
              <a:t>of</a:t>
            </a:r>
            <a:r>
              <a:rPr sz="2000" spc="-25" dirty="0">
                <a:latin typeface="Times New Roman"/>
                <a:cs typeface="Times New Roman"/>
              </a:rPr>
              <a:t> </a:t>
            </a:r>
            <a:r>
              <a:rPr sz="2000" dirty="0">
                <a:latin typeface="Times New Roman"/>
                <a:cs typeface="Times New Roman"/>
              </a:rPr>
              <a:t>Computer</a:t>
            </a:r>
            <a:r>
              <a:rPr sz="2000" spc="-15" dirty="0">
                <a:latin typeface="Times New Roman"/>
                <a:cs typeface="Times New Roman"/>
              </a:rPr>
              <a:t> </a:t>
            </a:r>
            <a:r>
              <a:rPr sz="2000" dirty="0">
                <a:latin typeface="Times New Roman"/>
                <a:cs typeface="Times New Roman"/>
              </a:rPr>
              <a:t>Science</a:t>
            </a:r>
            <a:r>
              <a:rPr sz="2000" spc="-30" dirty="0">
                <a:latin typeface="Times New Roman"/>
                <a:cs typeface="Times New Roman"/>
              </a:rPr>
              <a:t> </a:t>
            </a:r>
            <a:r>
              <a:rPr sz="2000" dirty="0">
                <a:latin typeface="Times New Roman"/>
                <a:cs typeface="Times New Roman"/>
              </a:rPr>
              <a:t>and</a:t>
            </a:r>
            <a:r>
              <a:rPr sz="2000" spc="-25" dirty="0">
                <a:latin typeface="Times New Roman"/>
                <a:cs typeface="Times New Roman"/>
              </a:rPr>
              <a:t> </a:t>
            </a:r>
            <a:r>
              <a:rPr sz="2000" spc="-10" dirty="0">
                <a:latin typeface="Times New Roman"/>
                <a:cs typeface="Times New Roman"/>
              </a:rPr>
              <a:t>Engineering, </a:t>
            </a:r>
            <a:r>
              <a:rPr sz="2000" dirty="0">
                <a:latin typeface="Times New Roman"/>
                <a:cs typeface="Times New Roman"/>
              </a:rPr>
              <a:t>Chitkara</a:t>
            </a:r>
            <a:r>
              <a:rPr sz="2000" spc="-50" dirty="0">
                <a:latin typeface="Times New Roman"/>
                <a:cs typeface="Times New Roman"/>
              </a:rPr>
              <a:t> </a:t>
            </a:r>
            <a:r>
              <a:rPr sz="2000" dirty="0">
                <a:latin typeface="Times New Roman"/>
                <a:cs typeface="Times New Roman"/>
              </a:rPr>
              <a:t>University,</a:t>
            </a:r>
            <a:r>
              <a:rPr sz="2000" spc="-55" dirty="0">
                <a:latin typeface="Times New Roman"/>
                <a:cs typeface="Times New Roman"/>
              </a:rPr>
              <a:t> </a:t>
            </a:r>
            <a:r>
              <a:rPr sz="2000" spc="-10" dirty="0">
                <a:latin typeface="Times New Roman"/>
                <a:cs typeface="Times New Roman"/>
              </a:rPr>
              <a:t>Punjab</a:t>
            </a:r>
            <a:endParaRPr sz="2000" dirty="0">
              <a:latin typeface="Times New Roman"/>
              <a:cs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68833" rIns="0" bIns="0" rtlCol="0">
            <a:spAutoFit/>
          </a:bodyPr>
          <a:lstStyle/>
          <a:p>
            <a:pPr marL="89535">
              <a:lnSpc>
                <a:spcPct val="100000"/>
              </a:lnSpc>
              <a:spcBef>
                <a:spcPts val="95"/>
              </a:spcBef>
            </a:pPr>
            <a:r>
              <a:rPr sz="2800" dirty="0">
                <a:solidFill>
                  <a:srgbClr val="002C44"/>
                </a:solidFill>
              </a:rPr>
              <a:t>Table</a:t>
            </a:r>
            <a:r>
              <a:rPr sz="2800" spc="-50" dirty="0">
                <a:solidFill>
                  <a:srgbClr val="002C44"/>
                </a:solidFill>
              </a:rPr>
              <a:t> </a:t>
            </a:r>
            <a:r>
              <a:rPr sz="2800" dirty="0">
                <a:solidFill>
                  <a:srgbClr val="002C44"/>
                </a:solidFill>
              </a:rPr>
              <a:t>of</a:t>
            </a:r>
            <a:r>
              <a:rPr sz="2800" spc="-30" dirty="0">
                <a:solidFill>
                  <a:srgbClr val="002C44"/>
                </a:solidFill>
              </a:rPr>
              <a:t> </a:t>
            </a:r>
            <a:r>
              <a:rPr sz="2800" spc="-10" dirty="0">
                <a:solidFill>
                  <a:srgbClr val="002C44"/>
                </a:solidFill>
              </a:rPr>
              <a:t>Contents</a:t>
            </a:r>
            <a:endParaRPr sz="2800"/>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2</a:t>
            </a:fld>
            <a:endParaRPr spc="-25" dirty="0"/>
          </a:p>
        </p:txBody>
      </p:sp>
      <p:sp>
        <p:nvSpPr>
          <p:cNvPr id="3" name="object 3"/>
          <p:cNvSpPr txBox="1"/>
          <p:nvPr/>
        </p:nvSpPr>
        <p:spPr>
          <a:xfrm>
            <a:off x="433222" y="1511655"/>
            <a:ext cx="5318125" cy="3227070"/>
          </a:xfrm>
          <a:prstGeom prst="rect">
            <a:avLst/>
          </a:prstGeom>
        </p:spPr>
        <p:txBody>
          <a:bodyPr vert="horz" wrap="square" lIns="0" tIns="165100" rIns="0" bIns="0" rtlCol="0">
            <a:spAutoFit/>
          </a:bodyPr>
          <a:lstStyle/>
          <a:p>
            <a:pPr marL="354965" indent="-342265">
              <a:lnSpc>
                <a:spcPct val="100000"/>
              </a:lnSpc>
              <a:spcBef>
                <a:spcPts val="1300"/>
              </a:spcBef>
              <a:buAutoNum type="arabicPeriod"/>
              <a:tabLst>
                <a:tab pos="354965" algn="l"/>
              </a:tabLst>
            </a:pPr>
            <a:r>
              <a:rPr sz="2000" dirty="0">
                <a:latin typeface="Times New Roman"/>
                <a:cs typeface="Times New Roman"/>
              </a:rPr>
              <a:t>Problem</a:t>
            </a:r>
            <a:r>
              <a:rPr sz="2000" spc="-45" dirty="0">
                <a:latin typeface="Times New Roman"/>
                <a:cs typeface="Times New Roman"/>
              </a:rPr>
              <a:t> </a:t>
            </a:r>
            <a:r>
              <a:rPr sz="2000" spc="-10" dirty="0">
                <a:latin typeface="Times New Roman"/>
                <a:cs typeface="Times New Roman"/>
              </a:rPr>
              <a:t>Statement</a:t>
            </a:r>
            <a:endParaRPr sz="2000" dirty="0">
              <a:latin typeface="Times New Roman"/>
              <a:cs typeface="Times New Roman"/>
            </a:endParaRPr>
          </a:p>
          <a:p>
            <a:pPr marL="354965" indent="-342265">
              <a:lnSpc>
                <a:spcPct val="100000"/>
              </a:lnSpc>
              <a:spcBef>
                <a:spcPts val="1200"/>
              </a:spcBef>
              <a:buAutoNum type="arabicPeriod"/>
              <a:tabLst>
                <a:tab pos="354965" algn="l"/>
              </a:tabLst>
            </a:pPr>
            <a:r>
              <a:rPr sz="2000" dirty="0">
                <a:latin typeface="Times New Roman"/>
                <a:cs typeface="Times New Roman"/>
              </a:rPr>
              <a:t>Objective</a:t>
            </a:r>
            <a:r>
              <a:rPr sz="2000" spc="-45" dirty="0">
                <a:latin typeface="Times New Roman"/>
                <a:cs typeface="Times New Roman"/>
              </a:rPr>
              <a:t> </a:t>
            </a:r>
            <a:r>
              <a:rPr sz="2000" dirty="0">
                <a:latin typeface="Times New Roman"/>
                <a:cs typeface="Times New Roman"/>
              </a:rPr>
              <a:t>/</a:t>
            </a:r>
            <a:r>
              <a:rPr sz="2000" spc="-20" dirty="0">
                <a:latin typeface="Times New Roman"/>
                <a:cs typeface="Times New Roman"/>
              </a:rPr>
              <a:t> </a:t>
            </a:r>
            <a:r>
              <a:rPr sz="2000" spc="-10" dirty="0">
                <a:latin typeface="Times New Roman"/>
                <a:cs typeface="Times New Roman"/>
              </a:rPr>
              <a:t>Purpose</a:t>
            </a:r>
            <a:endParaRPr sz="2000" dirty="0">
              <a:latin typeface="Times New Roman"/>
              <a:cs typeface="Times New Roman"/>
            </a:endParaRPr>
          </a:p>
          <a:p>
            <a:pPr marL="354965" indent="-342265">
              <a:lnSpc>
                <a:spcPct val="100000"/>
              </a:lnSpc>
              <a:spcBef>
                <a:spcPts val="1200"/>
              </a:spcBef>
              <a:buAutoNum type="arabicPeriod"/>
              <a:tabLst>
                <a:tab pos="354965" algn="l"/>
                <a:tab pos="4711700" algn="l"/>
              </a:tabLst>
            </a:pPr>
            <a:r>
              <a:rPr sz="2000" dirty="0">
                <a:latin typeface="Times New Roman"/>
                <a:cs typeface="Times New Roman"/>
              </a:rPr>
              <a:t>Main</a:t>
            </a:r>
            <a:r>
              <a:rPr sz="2000" spc="-15" dirty="0">
                <a:latin typeface="Times New Roman"/>
                <a:cs typeface="Times New Roman"/>
              </a:rPr>
              <a:t> </a:t>
            </a:r>
            <a:r>
              <a:rPr sz="2000" dirty="0">
                <a:latin typeface="Times New Roman"/>
                <a:cs typeface="Times New Roman"/>
              </a:rPr>
              <a:t>Topics</a:t>
            </a:r>
            <a:r>
              <a:rPr sz="2000" spc="-35" dirty="0">
                <a:latin typeface="Times New Roman"/>
                <a:cs typeface="Times New Roman"/>
              </a:rPr>
              <a:t> </a:t>
            </a:r>
            <a:r>
              <a:rPr sz="2000" dirty="0">
                <a:latin typeface="Times New Roman"/>
                <a:cs typeface="Times New Roman"/>
              </a:rPr>
              <a:t>/ Sections</a:t>
            </a:r>
            <a:r>
              <a:rPr sz="2000" spc="-35" dirty="0">
                <a:latin typeface="Times New Roman"/>
                <a:cs typeface="Times New Roman"/>
              </a:rPr>
              <a:t> </a:t>
            </a:r>
            <a:r>
              <a:rPr sz="2000" dirty="0">
                <a:latin typeface="Times New Roman"/>
                <a:cs typeface="Times New Roman"/>
              </a:rPr>
              <a:t>(Depends</a:t>
            </a:r>
            <a:r>
              <a:rPr sz="2000" spc="-40" dirty="0">
                <a:latin typeface="Times New Roman"/>
                <a:cs typeface="Times New Roman"/>
              </a:rPr>
              <a:t> </a:t>
            </a:r>
            <a:r>
              <a:rPr sz="2000" dirty="0">
                <a:latin typeface="Times New Roman"/>
                <a:cs typeface="Times New Roman"/>
              </a:rPr>
              <a:t>on </a:t>
            </a:r>
            <a:r>
              <a:rPr sz="2000" spc="-20" dirty="0">
                <a:latin typeface="Times New Roman"/>
                <a:cs typeface="Times New Roman"/>
              </a:rPr>
              <a:t>your</a:t>
            </a:r>
            <a:r>
              <a:rPr lang="en-IN" sz="2000" spc="-20" dirty="0">
                <a:latin typeface="Times New Roman"/>
                <a:cs typeface="Times New Roman"/>
              </a:rPr>
              <a:t> </a:t>
            </a:r>
            <a:r>
              <a:rPr sz="2000" spc="-10" dirty="0">
                <a:latin typeface="Times New Roman"/>
                <a:cs typeface="Times New Roman"/>
              </a:rPr>
              <a:t>topic)</a:t>
            </a:r>
            <a:endParaRPr sz="2000" dirty="0">
              <a:latin typeface="Times New Roman"/>
              <a:cs typeface="Times New Roman"/>
            </a:endParaRPr>
          </a:p>
          <a:p>
            <a:pPr marL="354965" indent="-342265">
              <a:lnSpc>
                <a:spcPct val="100000"/>
              </a:lnSpc>
              <a:spcBef>
                <a:spcPts val="1200"/>
              </a:spcBef>
              <a:buAutoNum type="arabicPeriod"/>
              <a:tabLst>
                <a:tab pos="354965" algn="l"/>
              </a:tabLst>
            </a:pPr>
            <a:r>
              <a:rPr sz="2000" dirty="0">
                <a:latin typeface="Times New Roman"/>
                <a:cs typeface="Times New Roman"/>
              </a:rPr>
              <a:t>Future</a:t>
            </a:r>
            <a:r>
              <a:rPr sz="2000" spc="-25" dirty="0">
                <a:latin typeface="Times New Roman"/>
                <a:cs typeface="Times New Roman"/>
              </a:rPr>
              <a:t> </a:t>
            </a:r>
            <a:r>
              <a:rPr sz="2000" spc="-20" dirty="0">
                <a:latin typeface="Times New Roman"/>
                <a:cs typeface="Times New Roman"/>
              </a:rPr>
              <a:t>Scope</a:t>
            </a:r>
            <a:endParaRPr sz="2000" dirty="0">
              <a:latin typeface="Times New Roman"/>
              <a:cs typeface="Times New Roman"/>
            </a:endParaRPr>
          </a:p>
          <a:p>
            <a:pPr marL="354965" indent="-342265">
              <a:lnSpc>
                <a:spcPct val="100000"/>
              </a:lnSpc>
              <a:spcBef>
                <a:spcPts val="1200"/>
              </a:spcBef>
              <a:buAutoNum type="arabicPeriod"/>
              <a:tabLst>
                <a:tab pos="354965" algn="l"/>
              </a:tabLst>
            </a:pPr>
            <a:r>
              <a:rPr sz="2000" spc="-10" dirty="0">
                <a:latin typeface="Times New Roman"/>
                <a:cs typeface="Times New Roman"/>
              </a:rPr>
              <a:t>Conclusion</a:t>
            </a:r>
            <a:endParaRPr sz="2000" dirty="0">
              <a:latin typeface="Times New Roman"/>
              <a:cs typeface="Times New Roman"/>
            </a:endParaRPr>
          </a:p>
          <a:p>
            <a:pPr marL="354965" indent="-342265">
              <a:lnSpc>
                <a:spcPct val="100000"/>
              </a:lnSpc>
              <a:spcBef>
                <a:spcPts val="1205"/>
              </a:spcBef>
              <a:buAutoNum type="arabicPeriod"/>
              <a:tabLst>
                <a:tab pos="354965" algn="l"/>
              </a:tabLst>
            </a:pPr>
            <a:r>
              <a:rPr sz="2000" dirty="0">
                <a:latin typeface="Times New Roman"/>
                <a:cs typeface="Times New Roman"/>
              </a:rPr>
              <a:t>References</a:t>
            </a:r>
            <a:r>
              <a:rPr sz="2000" spc="-40" dirty="0">
                <a:latin typeface="Times New Roman"/>
                <a:cs typeface="Times New Roman"/>
              </a:rPr>
              <a:t> </a:t>
            </a:r>
            <a:r>
              <a:rPr sz="2000" dirty="0">
                <a:latin typeface="Times New Roman"/>
                <a:cs typeface="Times New Roman"/>
              </a:rPr>
              <a:t>(if</a:t>
            </a:r>
            <a:r>
              <a:rPr sz="2000" spc="-15" dirty="0">
                <a:latin typeface="Times New Roman"/>
                <a:cs typeface="Times New Roman"/>
              </a:rPr>
              <a:t> </a:t>
            </a:r>
            <a:r>
              <a:rPr sz="2000" spc="-10" dirty="0">
                <a:latin typeface="Times New Roman"/>
                <a:cs typeface="Times New Roman"/>
              </a:rPr>
              <a:t>applicable)</a:t>
            </a:r>
            <a:endParaRPr sz="2000" dirty="0">
              <a:latin typeface="Times New Roman"/>
              <a:cs typeface="Times New Roman"/>
            </a:endParaRPr>
          </a:p>
          <a:p>
            <a:pPr marL="354965" indent="-342265">
              <a:lnSpc>
                <a:spcPct val="100000"/>
              </a:lnSpc>
              <a:spcBef>
                <a:spcPts val="1200"/>
              </a:spcBef>
              <a:buAutoNum type="arabicPeriod"/>
              <a:tabLst>
                <a:tab pos="354965" algn="l"/>
              </a:tabLst>
            </a:pPr>
            <a:r>
              <a:rPr sz="2000" dirty="0">
                <a:latin typeface="Times New Roman"/>
                <a:cs typeface="Times New Roman"/>
              </a:rPr>
              <a:t>Q&amp;A</a:t>
            </a:r>
            <a:r>
              <a:rPr sz="2000" spc="-10" dirty="0">
                <a:latin typeface="Times New Roman"/>
                <a:cs typeface="Times New Roman"/>
              </a:rPr>
              <a:t> </a:t>
            </a:r>
            <a:r>
              <a:rPr sz="2000" dirty="0">
                <a:latin typeface="Times New Roman"/>
                <a:cs typeface="Times New Roman"/>
              </a:rPr>
              <a:t>/</a:t>
            </a:r>
            <a:r>
              <a:rPr sz="2000" spc="5" dirty="0">
                <a:latin typeface="Times New Roman"/>
                <a:cs typeface="Times New Roman"/>
              </a:rPr>
              <a:t> </a:t>
            </a:r>
            <a:r>
              <a:rPr sz="2000" spc="-10" dirty="0">
                <a:latin typeface="Times New Roman"/>
                <a:cs typeface="Times New Roman"/>
              </a:rPr>
              <a:t>Discussion</a:t>
            </a:r>
            <a:endParaRPr sz="2000" dirty="0">
              <a:latin typeface="Times New Roman"/>
              <a:cs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335" rIns="0" bIns="0" rtlCol="0">
            <a:spAutoFit/>
          </a:bodyPr>
          <a:lstStyle/>
          <a:p>
            <a:pPr marL="12700">
              <a:lnSpc>
                <a:spcPct val="100000"/>
              </a:lnSpc>
              <a:spcBef>
                <a:spcPts val="105"/>
              </a:spcBef>
            </a:pPr>
            <a:r>
              <a:rPr dirty="0"/>
              <a:t>Problem</a:t>
            </a:r>
            <a:r>
              <a:rPr spc="-30" dirty="0"/>
              <a:t> </a:t>
            </a:r>
            <a:r>
              <a:rPr spc="-10" dirty="0"/>
              <a:t>Statement</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3</a:t>
            </a:fld>
            <a:endParaRPr spc="-25" dirty="0"/>
          </a:p>
        </p:txBody>
      </p:sp>
      <p:sp>
        <p:nvSpPr>
          <p:cNvPr id="3" name="object 3"/>
          <p:cNvSpPr txBox="1"/>
          <p:nvPr/>
        </p:nvSpPr>
        <p:spPr>
          <a:xfrm>
            <a:off x="457200" y="1143000"/>
            <a:ext cx="8151495" cy="4574137"/>
          </a:xfrm>
          <a:prstGeom prst="rect">
            <a:avLst/>
          </a:prstGeom>
        </p:spPr>
        <p:txBody>
          <a:bodyPr vert="horz" wrap="square" lIns="0" tIns="12700" rIns="0" bIns="0" rtlCol="0">
            <a:spAutoFit/>
          </a:bodyPr>
          <a:lstStyle/>
          <a:p>
            <a:pPr marL="12700" marR="5080" indent="27305" algn="just">
              <a:lnSpc>
                <a:spcPct val="150000"/>
              </a:lnSpc>
              <a:spcBef>
                <a:spcPts val="100"/>
              </a:spcBef>
            </a:pPr>
            <a:r>
              <a:rPr lang="en-US" sz="2000" dirty="0">
                <a:latin typeface="Times New Roman"/>
                <a:cs typeface="Times New Roman"/>
              </a:rPr>
              <a:t>In today’s growing corporate environment, managing appointments, projects, and client–staff communication can be highly complex and time-consuming. Manual scheduling often leads to errors, delays, and mismanagement. Our Company Appointment System simplifies this by providing a centralized digital platform where: Super Admin (owner) can create projects and manage overall operations .Admin can add staff and clients to projects. Clients receive login credentials through mail and can book appointments easily. Clients can raise queries and request meetings, while staff and owner can respond directly .This ensures streamlined communication, effective scheduling, and improved efficiency in project and client management.</a:t>
            </a:r>
            <a:endParaRPr sz="2000" dirty="0">
              <a:latin typeface="Times New Roman"/>
              <a:cs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8049" rIns="0" bIns="0" rtlCol="0">
            <a:spAutoFit/>
          </a:bodyPr>
          <a:lstStyle/>
          <a:p>
            <a:pPr marL="122555">
              <a:lnSpc>
                <a:spcPct val="100000"/>
              </a:lnSpc>
              <a:spcBef>
                <a:spcPts val="105"/>
              </a:spcBef>
            </a:pPr>
            <a:r>
              <a:rPr dirty="0"/>
              <a:t>Objective</a:t>
            </a:r>
            <a:r>
              <a:rPr spc="-25" dirty="0"/>
              <a:t> </a:t>
            </a:r>
            <a:r>
              <a:rPr dirty="0"/>
              <a:t>/</a:t>
            </a:r>
            <a:r>
              <a:rPr spc="-15" dirty="0"/>
              <a:t> </a:t>
            </a:r>
            <a:r>
              <a:rPr spc="-10" dirty="0"/>
              <a:t>Purpose</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4</a:t>
            </a:fld>
            <a:endParaRPr spc="-25" dirty="0"/>
          </a:p>
        </p:txBody>
      </p:sp>
      <p:sp>
        <p:nvSpPr>
          <p:cNvPr id="3" name="object 3"/>
          <p:cNvSpPr txBox="1"/>
          <p:nvPr/>
        </p:nvSpPr>
        <p:spPr>
          <a:xfrm>
            <a:off x="355804" y="1315227"/>
            <a:ext cx="8296452" cy="5009373"/>
          </a:xfrm>
          <a:prstGeom prst="rect">
            <a:avLst/>
          </a:prstGeom>
        </p:spPr>
        <p:txBody>
          <a:bodyPr vert="horz" wrap="square" lIns="0" tIns="13335" rIns="0" bIns="0" rtlCol="0">
            <a:spAutoFit/>
          </a:bodyPr>
          <a:lstStyle/>
          <a:p>
            <a:pPr marL="354965" indent="-342265">
              <a:lnSpc>
                <a:spcPct val="100000"/>
              </a:lnSpc>
              <a:spcBef>
                <a:spcPts val="105"/>
              </a:spcBef>
              <a:buClr>
                <a:srgbClr val="878787"/>
              </a:buClr>
              <a:buSzPct val="160000"/>
              <a:buFont typeface="Arial MT"/>
              <a:buChar char="•"/>
              <a:tabLst>
                <a:tab pos="354965" algn="l"/>
              </a:tabLst>
            </a:pPr>
            <a:endParaRPr sz="1600" dirty="0">
              <a:latin typeface="Times New Roman"/>
              <a:cs typeface="Times New Roman"/>
            </a:endParaRPr>
          </a:p>
        </p:txBody>
      </p:sp>
      <p:sp>
        <p:nvSpPr>
          <p:cNvPr id="5" name="object 5"/>
          <p:cNvSpPr txBox="1"/>
          <p:nvPr/>
        </p:nvSpPr>
        <p:spPr>
          <a:xfrm>
            <a:off x="491744" y="1621281"/>
            <a:ext cx="7933055" cy="4640501"/>
          </a:xfrm>
          <a:prstGeom prst="rect">
            <a:avLst/>
          </a:prstGeom>
        </p:spPr>
        <p:txBody>
          <a:bodyPr vert="horz" wrap="square" lIns="0" tIns="13970" rIns="0" bIns="0" rtlCol="0">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Efficient Scheduling:</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Allow clients to book appointments seamlessly with staff or owners.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Centralized Management: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Super Admin and Admin can add/manage staff, clients, and projects.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Transparency in Communication: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Clients can raise questions or meeting requests, which both staff and owners can address.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Ease of Access: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Clients and staff receive credentials via email to log in securely.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Goal:</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To build a robust, user-friendly system that simplifies company operations, saves time, and ensures professional client engagement.</a:t>
            </a:r>
          </a:p>
          <a:p>
            <a:pPr marL="355600" marR="543560">
              <a:lnSpc>
                <a:spcPct val="99300"/>
              </a:lnSpc>
              <a:spcBef>
                <a:spcPts val="110"/>
              </a:spcBef>
            </a:pPr>
            <a:endParaRPr sz="2000" dirty="0">
              <a:latin typeface="Times New Roman"/>
              <a:cs typeface="Times New Roman"/>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8049" rIns="0" bIns="0" rtlCol="0">
            <a:spAutoFit/>
          </a:bodyPr>
          <a:lstStyle/>
          <a:p>
            <a:pPr marL="426084">
              <a:lnSpc>
                <a:spcPct val="100000"/>
              </a:lnSpc>
              <a:spcBef>
                <a:spcPts val="105"/>
              </a:spcBef>
            </a:pPr>
            <a:r>
              <a:rPr dirty="0"/>
              <a:t>Main Topics / </a:t>
            </a:r>
            <a:r>
              <a:rPr spc="-10" dirty="0"/>
              <a:t>Sections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5</a:t>
            </a:fld>
            <a:endParaRPr spc="-25" dirty="0"/>
          </a:p>
        </p:txBody>
      </p:sp>
      <p:sp>
        <p:nvSpPr>
          <p:cNvPr id="3" name="object 3"/>
          <p:cNvSpPr txBox="1"/>
          <p:nvPr/>
        </p:nvSpPr>
        <p:spPr>
          <a:xfrm>
            <a:off x="676148" y="2183637"/>
            <a:ext cx="3128010" cy="258404"/>
          </a:xfrm>
          <a:prstGeom prst="rect">
            <a:avLst/>
          </a:prstGeom>
        </p:spPr>
        <p:txBody>
          <a:bodyPr vert="horz" wrap="square" lIns="0" tIns="12065" rIns="0" bIns="0" rtlCol="0">
            <a:spAutoFit/>
          </a:bodyPr>
          <a:lstStyle/>
          <a:p>
            <a:pPr marL="12700">
              <a:lnSpc>
                <a:spcPct val="100000"/>
              </a:lnSpc>
              <a:spcBef>
                <a:spcPts val="95"/>
              </a:spcBef>
            </a:pPr>
            <a:endParaRPr sz="1600" dirty="0">
              <a:latin typeface="Times New Roman"/>
              <a:cs typeface="Times New Roman"/>
            </a:endParaRPr>
          </a:p>
        </p:txBody>
      </p:sp>
      <p:sp>
        <p:nvSpPr>
          <p:cNvPr id="4" name="object 4"/>
          <p:cNvSpPr txBox="1"/>
          <p:nvPr/>
        </p:nvSpPr>
        <p:spPr>
          <a:xfrm>
            <a:off x="391159" y="1576831"/>
            <a:ext cx="8254747" cy="4949432"/>
          </a:xfrm>
          <a:prstGeom prst="rect">
            <a:avLst/>
          </a:prstGeom>
        </p:spPr>
        <p:txBody>
          <a:bodyPr vert="horz" wrap="square" lIns="0" tIns="12065" rIns="0" bIns="0"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1.User-Centric Design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Responsive Interface: Built with React to ensure smooth booking and management experience across devices.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Simple Navigation: Intuitive dashboards for Super Admin, Admin, Staff, and Clients.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Efficient Backend Architecture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Built with Node.js and Express.js to handle real-time appointment bookings and queries.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Secure authentication system for login and role-based access.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Secure and Scalable Database</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MongoDB used for storing staff, client, project, and appointment details securely.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Data integrity maintained with proper schema design.</a:t>
            </a:r>
          </a:p>
          <a:p>
            <a:pPr marL="164465" indent="-155575">
              <a:lnSpc>
                <a:spcPct val="100000"/>
              </a:lnSpc>
              <a:spcBef>
                <a:spcPts val="95"/>
              </a:spcBef>
              <a:buSzPct val="93750"/>
              <a:buAutoNum type="arabicPeriod"/>
              <a:tabLst>
                <a:tab pos="164465" algn="l"/>
              </a:tabLst>
            </a:pPr>
            <a:endParaRPr sz="2000" dirty="0">
              <a:latin typeface="Times New Roman" panose="02020603050405020304" pitchFamily="18" charset="0"/>
              <a:cs typeface="Times New Roman" panose="02020603050405020304" pitchFamily="18" charset="0"/>
            </a:endParaRPr>
          </a:p>
        </p:txBody>
      </p:sp>
      <p:sp>
        <p:nvSpPr>
          <p:cNvPr id="5" name="object 5"/>
          <p:cNvSpPr txBox="1"/>
          <p:nvPr/>
        </p:nvSpPr>
        <p:spPr>
          <a:xfrm>
            <a:off x="391159" y="4101210"/>
            <a:ext cx="7980680" cy="245516"/>
          </a:xfrm>
          <a:prstGeom prst="rect">
            <a:avLst/>
          </a:prstGeom>
        </p:spPr>
        <p:txBody>
          <a:bodyPr vert="horz" wrap="square" lIns="0" tIns="10795" rIns="0" bIns="0" rtlCol="0">
            <a:spAutoFit/>
          </a:bodyPr>
          <a:lstStyle/>
          <a:p>
            <a:pPr marL="443865" marR="5080" indent="-431800">
              <a:lnSpc>
                <a:spcPct val="100699"/>
              </a:lnSpc>
              <a:spcBef>
                <a:spcPts val="85"/>
              </a:spcBef>
              <a:buClr>
                <a:srgbClr val="878787"/>
              </a:buClr>
              <a:buSzPct val="177777"/>
              <a:buFont typeface="Arial MT"/>
              <a:buChar char="•"/>
              <a:tabLst>
                <a:tab pos="443865" algn="l"/>
              </a:tabLst>
            </a:pPr>
            <a:endParaRPr sz="1600" dirty="0">
              <a:latin typeface="Times New Roman"/>
              <a:cs typeface="Times New Roman"/>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8049" rIns="0" bIns="0" rtlCol="0">
            <a:spAutoFit/>
          </a:bodyPr>
          <a:lstStyle/>
          <a:p>
            <a:pPr marL="426084">
              <a:lnSpc>
                <a:spcPct val="100000"/>
              </a:lnSpc>
              <a:spcBef>
                <a:spcPts val="105"/>
              </a:spcBef>
            </a:pPr>
            <a:r>
              <a:rPr dirty="0"/>
              <a:t>Main Topics / </a:t>
            </a:r>
            <a:r>
              <a:rPr spc="-10" dirty="0"/>
              <a:t>Sections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6</a:t>
            </a:fld>
            <a:endParaRPr spc="-25" dirty="0"/>
          </a:p>
        </p:txBody>
      </p:sp>
      <p:sp>
        <p:nvSpPr>
          <p:cNvPr id="3" name="object 3"/>
          <p:cNvSpPr txBox="1"/>
          <p:nvPr/>
        </p:nvSpPr>
        <p:spPr>
          <a:xfrm>
            <a:off x="511251" y="1438148"/>
            <a:ext cx="7971155" cy="3656770"/>
          </a:xfrm>
          <a:prstGeom prst="rect">
            <a:avLst/>
          </a:prstGeom>
        </p:spPr>
        <p:txBody>
          <a:bodyPr vert="horz" wrap="square" lIns="0" tIns="12065" rIns="0" bIns="0"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4.Advanced Features Implementation</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Appointment Booking: Clients can schedule meetings directly with staff.</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Query Management: Clients can raise queries, answered by staff or owner.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Email Integration: Automatic email notifications with login credentials and appointment confirmations.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5.Admin Controls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Admin: Manage staff &amp; client onboarding, assign to projects, resolve issues.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6.</a:t>
            </a:r>
            <a:r>
              <a:rPr lang="en-US" sz="2000" b="1" dirty="0">
                <a:latin typeface="Times New Roman" panose="02020603050405020304" pitchFamily="18" charset="0"/>
                <a:cs typeface="Times New Roman" panose="02020603050405020304" pitchFamily="18" charset="0"/>
              </a:rPr>
              <a:t> Integration with Calendars</a:t>
            </a:r>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Google/Outlook calendar sync for seamless meeting scheduling.</a:t>
            </a:r>
          </a:p>
          <a:p>
            <a:pPr marL="12699">
              <a:lnSpc>
                <a:spcPct val="100000"/>
              </a:lnSpc>
              <a:spcBef>
                <a:spcPts val="95"/>
              </a:spcBef>
              <a:tabLst>
                <a:tab pos="214629" algn="l"/>
              </a:tabLst>
            </a:pPr>
            <a:endParaRPr sz="1600" dirty="0">
              <a:latin typeface="Times New Roman"/>
              <a:cs typeface="Times New Roman"/>
            </a:endParaRPr>
          </a:p>
        </p:txBody>
      </p:sp>
      <p:sp>
        <p:nvSpPr>
          <p:cNvPr id="5" name="Rectangle 1">
            <a:extLst>
              <a:ext uri="{FF2B5EF4-FFF2-40B4-BE49-F238E27FC236}">
                <a16:creationId xmlns:a16="http://schemas.microsoft.com/office/drawing/2014/main" id="{4DFF3BC8-7D12-CBEF-921C-2E88C8B114BB}"/>
              </a:ext>
            </a:extLst>
          </p:cNvPr>
          <p:cNvSpPr>
            <a:spLocks noChangeArrowheads="1"/>
          </p:cNvSpPr>
          <p:nvPr/>
        </p:nvSpPr>
        <p:spPr bwMode="auto">
          <a:xfrm>
            <a:off x="0" y="-184666"/>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8049" rIns="0" bIns="0" rtlCol="0">
            <a:spAutoFit/>
          </a:bodyPr>
          <a:lstStyle/>
          <a:p>
            <a:pPr marL="1229995">
              <a:lnSpc>
                <a:spcPct val="100000"/>
              </a:lnSpc>
              <a:spcBef>
                <a:spcPts val="105"/>
              </a:spcBef>
            </a:pPr>
            <a:r>
              <a:rPr dirty="0"/>
              <a:t>Future</a:t>
            </a:r>
            <a:r>
              <a:rPr spc="-30" dirty="0"/>
              <a:t> </a:t>
            </a:r>
            <a:r>
              <a:rPr spc="-10" dirty="0"/>
              <a:t>Scope</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7</a:t>
            </a:fld>
            <a:endParaRPr spc="-25" dirty="0"/>
          </a:p>
        </p:txBody>
      </p:sp>
      <p:sp>
        <p:nvSpPr>
          <p:cNvPr id="3" name="object 3"/>
          <p:cNvSpPr txBox="1"/>
          <p:nvPr/>
        </p:nvSpPr>
        <p:spPr>
          <a:xfrm>
            <a:off x="535940" y="1270761"/>
            <a:ext cx="7969884" cy="3410549"/>
          </a:xfrm>
          <a:prstGeom prst="rect">
            <a:avLst/>
          </a:prstGeom>
        </p:spPr>
        <p:txBody>
          <a:bodyPr vert="horz" wrap="square" lIns="0" tIns="12065" rIns="0" bIns="0" rtlCol="0">
            <a:spAutoFit/>
          </a:bodyPr>
          <a:lstStyle/>
          <a:p>
            <a:r>
              <a:rPr lang="en-US" sz="2000" b="1" dirty="0">
                <a:latin typeface="Times New Roman" panose="02020603050405020304" pitchFamily="18" charset="0"/>
                <a:cs typeface="Times New Roman" panose="02020603050405020304" pitchFamily="18" charset="0"/>
              </a:rPr>
              <a:t>Automated Notifications</a:t>
            </a:r>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SMS/Email reminders for upcoming appointments and project updates.</a:t>
            </a:r>
          </a:p>
          <a:p>
            <a:pPr lvl="1"/>
            <a:endParaRPr lang="en-US" sz="2000" dirty="0">
              <a:latin typeface="Times New Roman" panose="02020603050405020304" pitchFamily="18" charset="0"/>
              <a:cs typeface="Times New Roman" panose="02020603050405020304" pitchFamily="18" charset="0"/>
            </a:endParaRPr>
          </a:p>
          <a:p>
            <a:pPr lvl="1"/>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Analytics Dashboard</a:t>
            </a:r>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Insights into client activity, staff performance, and project timelines.</a:t>
            </a:r>
          </a:p>
          <a:p>
            <a:pPr lvl="1"/>
            <a:endParaRPr lang="en-US" sz="2000"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AI-Powered Assistance</a:t>
            </a:r>
            <a:endParaRPr lang="en-US" sz="2000" dirty="0">
              <a:latin typeface="Times New Roman" panose="02020603050405020304" pitchFamily="18" charset="0"/>
              <a:cs typeface="Times New Roman" panose="02020603050405020304" pitchFamily="18" charset="0"/>
            </a:endParaRPr>
          </a:p>
          <a:p>
            <a:pPr lvl="1"/>
            <a:r>
              <a:rPr lang="en-US" sz="2000" dirty="0">
                <a:latin typeface="Times New Roman" panose="02020603050405020304" pitchFamily="18" charset="0"/>
                <a:cs typeface="Times New Roman" panose="02020603050405020304" pitchFamily="18" charset="0"/>
              </a:rPr>
              <a:t>Smart appointment suggestions based on staff availability.</a:t>
            </a:r>
          </a:p>
          <a:p>
            <a:pPr lvl="1"/>
            <a:r>
              <a:rPr lang="en-US" sz="2000" dirty="0">
                <a:latin typeface="Times New Roman" panose="02020603050405020304" pitchFamily="18" charset="0"/>
                <a:cs typeface="Times New Roman" panose="02020603050405020304" pitchFamily="18" charset="0"/>
              </a:rPr>
              <a:t>Auto-responses to frequently asked client queries.</a:t>
            </a:r>
          </a:p>
          <a:p>
            <a:pPr marL="12699">
              <a:lnSpc>
                <a:spcPct val="100000"/>
              </a:lnSpc>
              <a:spcBef>
                <a:spcPts val="95"/>
              </a:spcBef>
              <a:tabLst>
                <a:tab pos="214629" algn="l"/>
              </a:tabLst>
            </a:pPr>
            <a:endParaRPr sz="2000" dirty="0">
              <a:latin typeface="Times New Roman"/>
              <a:cs typeface="Times New Roman"/>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8049" rIns="0" bIns="0" rtlCol="0">
            <a:spAutoFit/>
          </a:bodyPr>
          <a:lstStyle/>
          <a:p>
            <a:pPr marL="958215">
              <a:lnSpc>
                <a:spcPct val="100000"/>
              </a:lnSpc>
              <a:spcBef>
                <a:spcPts val="105"/>
              </a:spcBef>
            </a:pPr>
            <a:r>
              <a:rPr dirty="0"/>
              <a:t>Project</a:t>
            </a:r>
            <a:r>
              <a:rPr spc="-25" dirty="0"/>
              <a:t> </a:t>
            </a:r>
            <a:r>
              <a:rPr spc="-10" dirty="0"/>
              <a:t>Snippets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8</a:t>
            </a:fld>
            <a:endParaRPr spc="-25" dirty="0"/>
          </a:p>
        </p:txBody>
      </p:sp>
      <p:pic>
        <p:nvPicPr>
          <p:cNvPr id="8" name="Picture 7">
            <a:extLst>
              <a:ext uri="{FF2B5EF4-FFF2-40B4-BE49-F238E27FC236}">
                <a16:creationId xmlns:a16="http://schemas.microsoft.com/office/drawing/2014/main" id="{FBDEEA3C-C0A7-13E8-349C-8555CC283C7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66900" y="1219200"/>
            <a:ext cx="5410200" cy="2485311"/>
          </a:xfrm>
          <a:prstGeom prst="rect">
            <a:avLst/>
          </a:prstGeom>
        </p:spPr>
      </p:pic>
      <p:pic>
        <p:nvPicPr>
          <p:cNvPr id="10" name="Picture 9">
            <a:extLst>
              <a:ext uri="{FF2B5EF4-FFF2-40B4-BE49-F238E27FC236}">
                <a16:creationId xmlns:a16="http://schemas.microsoft.com/office/drawing/2014/main" id="{720CB866-8388-64CB-9068-15BC83F9124C}"/>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46533" y="3962400"/>
            <a:ext cx="4366158" cy="2244478"/>
          </a:xfrm>
          <a:prstGeom prst="rect">
            <a:avLst/>
          </a:prstGeom>
        </p:spPr>
      </p:pic>
      <p:pic>
        <p:nvPicPr>
          <p:cNvPr id="12" name="Picture 11">
            <a:extLst>
              <a:ext uri="{FF2B5EF4-FFF2-40B4-BE49-F238E27FC236}">
                <a16:creationId xmlns:a16="http://schemas.microsoft.com/office/drawing/2014/main" id="{42340185-8676-3D70-8228-E32C036323A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4676354" y="3962401"/>
            <a:ext cx="4239045" cy="224447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8049" rIns="0" bIns="0" rtlCol="0">
            <a:spAutoFit/>
          </a:bodyPr>
          <a:lstStyle/>
          <a:p>
            <a:pPr marL="1139825">
              <a:lnSpc>
                <a:spcPct val="100000"/>
              </a:lnSpc>
              <a:spcBef>
                <a:spcPts val="105"/>
              </a:spcBef>
            </a:pPr>
            <a:r>
              <a:rPr dirty="0"/>
              <a:t>Code</a:t>
            </a:r>
            <a:r>
              <a:rPr spc="-20" dirty="0"/>
              <a:t> </a:t>
            </a:r>
            <a:r>
              <a:rPr spc="-10" dirty="0"/>
              <a:t>Snippets</a:t>
            </a:r>
          </a:p>
        </p:txBody>
      </p:sp>
      <p:sp>
        <p:nvSpPr>
          <p:cNvPr id="6" name="object 6"/>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9</a:t>
            </a:fld>
            <a:endParaRPr spc="-25" dirty="0"/>
          </a:p>
        </p:txBody>
      </p:sp>
      <p:pic>
        <p:nvPicPr>
          <p:cNvPr id="8" name="Picture 7">
            <a:extLst>
              <a:ext uri="{FF2B5EF4-FFF2-40B4-BE49-F238E27FC236}">
                <a16:creationId xmlns:a16="http://schemas.microsoft.com/office/drawing/2014/main" id="{C9AD4720-ECCC-73B5-6E8E-41883E7B69D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828812" y="866196"/>
            <a:ext cx="5334000" cy="2649804"/>
          </a:xfrm>
          <a:prstGeom prst="rect">
            <a:avLst/>
          </a:prstGeom>
        </p:spPr>
      </p:pic>
      <p:pic>
        <p:nvPicPr>
          <p:cNvPr id="10" name="Picture 9">
            <a:extLst>
              <a:ext uri="{FF2B5EF4-FFF2-40B4-BE49-F238E27FC236}">
                <a16:creationId xmlns:a16="http://schemas.microsoft.com/office/drawing/2014/main" id="{D7BE3883-24DA-BC30-AE6C-9EC6779F877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828812" y="3676108"/>
            <a:ext cx="5410188" cy="2771596"/>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8049" rIns="0" bIns="0" rtlCol="0">
            <a:spAutoFit/>
          </a:bodyPr>
          <a:lstStyle/>
          <a:p>
            <a:pPr marL="1414145">
              <a:lnSpc>
                <a:spcPct val="100000"/>
              </a:lnSpc>
              <a:spcBef>
                <a:spcPts val="105"/>
              </a:spcBef>
            </a:pPr>
            <a:r>
              <a:rPr spc="-10" dirty="0"/>
              <a:t>Conclusion</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10</a:t>
            </a:fld>
            <a:endParaRPr spc="-25" dirty="0"/>
          </a:p>
        </p:txBody>
      </p:sp>
      <p:sp>
        <p:nvSpPr>
          <p:cNvPr id="3" name="object 3"/>
          <p:cNvSpPr txBox="1"/>
          <p:nvPr/>
        </p:nvSpPr>
        <p:spPr>
          <a:xfrm>
            <a:off x="500887" y="1401825"/>
            <a:ext cx="7970520" cy="5321329"/>
          </a:xfrm>
          <a:prstGeom prst="rect">
            <a:avLst/>
          </a:prstGeom>
        </p:spPr>
        <p:txBody>
          <a:bodyPr vert="horz" wrap="square" lIns="0" tIns="12065" rIns="0" bIns="0"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1.Seamless Appointment Management</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system simplifies the entire process of booking, approving, and managing appointments between clients and staff.</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2.Role-Based Access and Control</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Clearly defined roles for Super Admin, Admin, Staff, and Clients ensure proper hierarchy, transparency, and security.</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3.Centralized Project Handling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Projects can be created and managed by Super Admin, with staff and clients assigned efficiently, reducing confusion and overlaps.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4.Secure User Onboarding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Automatic email delivery of credentials allows quick and safe onboarding for staff and clients, minimizing manual errors.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441959" marR="6350" lvl="1" indent="-429895" algn="just">
              <a:lnSpc>
                <a:spcPct val="100000"/>
              </a:lnSpc>
              <a:spcBef>
                <a:spcPts val="600"/>
              </a:spcBef>
              <a:buClr>
                <a:srgbClr val="878787"/>
              </a:buClr>
              <a:buSzPct val="200000"/>
              <a:buFont typeface="Arial MT"/>
              <a:buChar char="•"/>
              <a:tabLst>
                <a:tab pos="443865" algn="l"/>
              </a:tabLst>
            </a:pPr>
            <a:endParaRPr 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8049" rIns="0" bIns="0" rtlCol="0">
            <a:spAutoFit/>
          </a:bodyPr>
          <a:lstStyle/>
          <a:p>
            <a:pPr marL="1435735">
              <a:lnSpc>
                <a:spcPct val="100000"/>
              </a:lnSpc>
              <a:spcBef>
                <a:spcPts val="105"/>
              </a:spcBef>
            </a:pPr>
            <a:r>
              <a:rPr spc="-10" dirty="0"/>
              <a:t>References</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11</a:t>
            </a:fld>
            <a:endParaRPr spc="-25" dirty="0"/>
          </a:p>
        </p:txBody>
      </p:sp>
      <p:sp>
        <p:nvSpPr>
          <p:cNvPr id="3" name="object 3"/>
          <p:cNvSpPr txBox="1"/>
          <p:nvPr/>
        </p:nvSpPr>
        <p:spPr>
          <a:xfrm>
            <a:off x="455472" y="1484756"/>
            <a:ext cx="7969250" cy="4859664"/>
          </a:xfrm>
          <a:prstGeom prst="rect">
            <a:avLst/>
          </a:prstGeom>
        </p:spPr>
        <p:txBody>
          <a:bodyPr vert="horz" wrap="square" lIns="0" tIns="12065" rIns="0" bIns="0" rtlCol="0">
            <a:spAutoFit/>
          </a:bodyPr>
          <a:lstStyle/>
          <a:p>
            <a:pPr marL="441959" marR="6350" indent="-429895" algn="just">
              <a:lnSpc>
                <a:spcPct val="100000"/>
              </a:lnSpc>
              <a:spcBef>
                <a:spcPts val="95"/>
              </a:spcBef>
              <a:buClr>
                <a:srgbClr val="878787"/>
              </a:buClr>
              <a:buSzPct val="200000"/>
              <a:buFont typeface="Arial MT"/>
              <a:buChar char="•"/>
              <a:tabLst>
                <a:tab pos="443865" algn="l"/>
              </a:tabLst>
            </a:pPr>
            <a:r>
              <a:rPr sz="2000" dirty="0">
                <a:solidFill>
                  <a:srgbClr val="2D2D2D"/>
                </a:solidFill>
                <a:latin typeface="Times New Roman"/>
                <a:cs typeface="Times New Roman"/>
              </a:rPr>
              <a:t>Official</a:t>
            </a:r>
            <a:r>
              <a:rPr sz="2000" spc="235" dirty="0">
                <a:solidFill>
                  <a:srgbClr val="2D2D2D"/>
                </a:solidFill>
                <a:latin typeface="Times New Roman"/>
                <a:cs typeface="Times New Roman"/>
              </a:rPr>
              <a:t> </a:t>
            </a:r>
            <a:r>
              <a:rPr sz="2000" dirty="0">
                <a:solidFill>
                  <a:srgbClr val="2D2D2D"/>
                </a:solidFill>
                <a:latin typeface="Times New Roman"/>
                <a:cs typeface="Times New Roman"/>
              </a:rPr>
              <a:t>Documentation:</a:t>
            </a:r>
            <a:r>
              <a:rPr sz="2000" spc="229" dirty="0">
                <a:solidFill>
                  <a:srgbClr val="2D2D2D"/>
                </a:solidFill>
                <a:latin typeface="Times New Roman"/>
                <a:cs typeface="Times New Roman"/>
              </a:rPr>
              <a:t> </a:t>
            </a:r>
            <a:r>
              <a:rPr sz="2000" dirty="0">
                <a:solidFill>
                  <a:srgbClr val="2D2D2D"/>
                </a:solidFill>
                <a:latin typeface="Times New Roman"/>
                <a:cs typeface="Times New Roman"/>
              </a:rPr>
              <a:t>Documentation</a:t>
            </a:r>
            <a:r>
              <a:rPr sz="2000" spc="245" dirty="0">
                <a:solidFill>
                  <a:srgbClr val="2D2D2D"/>
                </a:solidFill>
                <a:latin typeface="Times New Roman"/>
                <a:cs typeface="Times New Roman"/>
              </a:rPr>
              <a:t> </a:t>
            </a:r>
            <a:r>
              <a:rPr sz="2000" dirty="0">
                <a:solidFill>
                  <a:srgbClr val="2D2D2D"/>
                </a:solidFill>
                <a:latin typeface="Times New Roman"/>
                <a:cs typeface="Times New Roman"/>
              </a:rPr>
              <a:t>for</a:t>
            </a:r>
            <a:r>
              <a:rPr sz="2000" spc="229" dirty="0">
                <a:solidFill>
                  <a:srgbClr val="2D2D2D"/>
                </a:solidFill>
                <a:latin typeface="Times New Roman"/>
                <a:cs typeface="Times New Roman"/>
              </a:rPr>
              <a:t> </a:t>
            </a:r>
            <a:r>
              <a:rPr sz="2000" dirty="0">
                <a:solidFill>
                  <a:srgbClr val="2D2D2D"/>
                </a:solidFill>
                <a:latin typeface="Times New Roman"/>
                <a:cs typeface="Times New Roman"/>
              </a:rPr>
              <a:t>libraries,</a:t>
            </a:r>
            <a:r>
              <a:rPr sz="2000" spc="250" dirty="0">
                <a:solidFill>
                  <a:srgbClr val="2D2D2D"/>
                </a:solidFill>
                <a:latin typeface="Times New Roman"/>
                <a:cs typeface="Times New Roman"/>
              </a:rPr>
              <a:t> </a:t>
            </a:r>
            <a:r>
              <a:rPr sz="2000" dirty="0">
                <a:solidFill>
                  <a:srgbClr val="2D2D2D"/>
                </a:solidFill>
                <a:latin typeface="Times New Roman"/>
                <a:cs typeface="Times New Roman"/>
              </a:rPr>
              <a:t>frameworks,</a:t>
            </a:r>
            <a:r>
              <a:rPr sz="2000" spc="235" dirty="0">
                <a:solidFill>
                  <a:srgbClr val="2D2D2D"/>
                </a:solidFill>
                <a:latin typeface="Times New Roman"/>
                <a:cs typeface="Times New Roman"/>
              </a:rPr>
              <a:t> </a:t>
            </a:r>
            <a:r>
              <a:rPr sz="2000" dirty="0">
                <a:solidFill>
                  <a:srgbClr val="2D2D2D"/>
                </a:solidFill>
                <a:latin typeface="Times New Roman"/>
                <a:cs typeface="Times New Roman"/>
              </a:rPr>
              <a:t>and</a:t>
            </a:r>
            <a:r>
              <a:rPr sz="2000" spc="235" dirty="0">
                <a:solidFill>
                  <a:srgbClr val="2D2D2D"/>
                </a:solidFill>
                <a:latin typeface="Times New Roman"/>
                <a:cs typeface="Times New Roman"/>
              </a:rPr>
              <a:t> </a:t>
            </a:r>
            <a:r>
              <a:rPr sz="2000" dirty="0">
                <a:solidFill>
                  <a:srgbClr val="2D2D2D"/>
                </a:solidFill>
                <a:latin typeface="Times New Roman"/>
                <a:cs typeface="Times New Roman"/>
              </a:rPr>
              <a:t>tools</a:t>
            </a:r>
            <a:r>
              <a:rPr sz="2000" spc="235" dirty="0">
                <a:solidFill>
                  <a:srgbClr val="2D2D2D"/>
                </a:solidFill>
                <a:latin typeface="Times New Roman"/>
                <a:cs typeface="Times New Roman"/>
              </a:rPr>
              <a:t> </a:t>
            </a:r>
            <a:r>
              <a:rPr sz="2000" dirty="0">
                <a:solidFill>
                  <a:srgbClr val="2D2D2D"/>
                </a:solidFill>
                <a:latin typeface="Times New Roman"/>
                <a:cs typeface="Times New Roman"/>
              </a:rPr>
              <a:t>used</a:t>
            </a:r>
            <a:r>
              <a:rPr sz="2000" spc="240" dirty="0">
                <a:solidFill>
                  <a:srgbClr val="2D2D2D"/>
                </a:solidFill>
                <a:latin typeface="Times New Roman"/>
                <a:cs typeface="Times New Roman"/>
              </a:rPr>
              <a:t> </a:t>
            </a:r>
            <a:r>
              <a:rPr sz="2000" dirty="0">
                <a:solidFill>
                  <a:srgbClr val="2D2D2D"/>
                </a:solidFill>
                <a:latin typeface="Times New Roman"/>
                <a:cs typeface="Times New Roman"/>
              </a:rPr>
              <a:t>in</a:t>
            </a:r>
            <a:r>
              <a:rPr sz="2000" spc="235" dirty="0">
                <a:solidFill>
                  <a:srgbClr val="2D2D2D"/>
                </a:solidFill>
                <a:latin typeface="Times New Roman"/>
                <a:cs typeface="Times New Roman"/>
              </a:rPr>
              <a:t> </a:t>
            </a:r>
            <a:r>
              <a:rPr sz="2000" spc="-25" dirty="0">
                <a:solidFill>
                  <a:srgbClr val="2D2D2D"/>
                </a:solidFill>
                <a:latin typeface="Times New Roman"/>
                <a:cs typeface="Times New Roman"/>
              </a:rPr>
              <a:t>the 	</a:t>
            </a:r>
            <a:r>
              <a:rPr sz="2000" dirty="0">
                <a:solidFill>
                  <a:srgbClr val="2D2D2D"/>
                </a:solidFill>
                <a:latin typeface="Times New Roman"/>
                <a:cs typeface="Times New Roman"/>
              </a:rPr>
              <a:t>project, as</a:t>
            </a:r>
            <a:r>
              <a:rPr sz="2000" spc="-35" dirty="0">
                <a:solidFill>
                  <a:srgbClr val="2D2D2D"/>
                </a:solidFill>
                <a:latin typeface="Times New Roman"/>
                <a:cs typeface="Times New Roman"/>
              </a:rPr>
              <a:t> </a:t>
            </a:r>
            <a:r>
              <a:rPr sz="2000" dirty="0">
                <a:solidFill>
                  <a:srgbClr val="2D2D2D"/>
                </a:solidFill>
                <a:latin typeface="Times New Roman"/>
                <a:cs typeface="Times New Roman"/>
              </a:rPr>
              <a:t>well</a:t>
            </a:r>
            <a:r>
              <a:rPr sz="2000" spc="-10" dirty="0">
                <a:solidFill>
                  <a:srgbClr val="2D2D2D"/>
                </a:solidFill>
                <a:latin typeface="Times New Roman"/>
                <a:cs typeface="Times New Roman"/>
              </a:rPr>
              <a:t> </a:t>
            </a:r>
            <a:r>
              <a:rPr sz="2000" dirty="0">
                <a:solidFill>
                  <a:srgbClr val="2D2D2D"/>
                </a:solidFill>
                <a:latin typeface="Times New Roman"/>
                <a:cs typeface="Times New Roman"/>
              </a:rPr>
              <a:t>as</a:t>
            </a:r>
            <a:r>
              <a:rPr sz="2000" spc="-15" dirty="0">
                <a:solidFill>
                  <a:srgbClr val="2D2D2D"/>
                </a:solidFill>
                <a:latin typeface="Times New Roman"/>
                <a:cs typeface="Times New Roman"/>
              </a:rPr>
              <a:t> </a:t>
            </a:r>
            <a:r>
              <a:rPr sz="2000" dirty="0">
                <a:solidFill>
                  <a:srgbClr val="2D2D2D"/>
                </a:solidFill>
                <a:latin typeface="Times New Roman"/>
                <a:cs typeface="Times New Roman"/>
              </a:rPr>
              <a:t>APIs</a:t>
            </a:r>
            <a:r>
              <a:rPr sz="2000" spc="-25" dirty="0">
                <a:solidFill>
                  <a:srgbClr val="2D2D2D"/>
                </a:solidFill>
                <a:latin typeface="Times New Roman"/>
                <a:cs typeface="Times New Roman"/>
              </a:rPr>
              <a:t> </a:t>
            </a:r>
            <a:r>
              <a:rPr sz="2000" dirty="0">
                <a:solidFill>
                  <a:srgbClr val="2D2D2D"/>
                </a:solidFill>
                <a:latin typeface="Times New Roman"/>
                <a:cs typeface="Times New Roman"/>
              </a:rPr>
              <a:t>or</a:t>
            </a:r>
            <a:r>
              <a:rPr sz="2000" spc="-35" dirty="0">
                <a:solidFill>
                  <a:srgbClr val="2D2D2D"/>
                </a:solidFill>
                <a:latin typeface="Times New Roman"/>
                <a:cs typeface="Times New Roman"/>
              </a:rPr>
              <a:t> </a:t>
            </a:r>
            <a:r>
              <a:rPr sz="2000" dirty="0">
                <a:solidFill>
                  <a:srgbClr val="2D2D2D"/>
                </a:solidFill>
                <a:latin typeface="Times New Roman"/>
                <a:cs typeface="Times New Roman"/>
              </a:rPr>
              <a:t>services</a:t>
            </a:r>
            <a:r>
              <a:rPr sz="2000" spc="5" dirty="0">
                <a:solidFill>
                  <a:srgbClr val="2D2D2D"/>
                </a:solidFill>
                <a:latin typeface="Times New Roman"/>
                <a:cs typeface="Times New Roman"/>
              </a:rPr>
              <a:t> </a:t>
            </a:r>
            <a:r>
              <a:rPr sz="2000" spc="-10" dirty="0">
                <a:solidFill>
                  <a:srgbClr val="2D2D2D"/>
                </a:solidFill>
                <a:latin typeface="Times New Roman"/>
                <a:cs typeface="Times New Roman"/>
              </a:rPr>
              <a:t>integrated.</a:t>
            </a:r>
            <a:endParaRPr sz="2000" dirty="0">
              <a:latin typeface="Times New Roman"/>
              <a:cs typeface="Times New Roman"/>
            </a:endParaRPr>
          </a:p>
          <a:p>
            <a:pPr marL="443865" indent="-431165">
              <a:lnSpc>
                <a:spcPct val="100000"/>
              </a:lnSpc>
              <a:spcBef>
                <a:spcPts val="600"/>
              </a:spcBef>
              <a:buClr>
                <a:srgbClr val="878787"/>
              </a:buClr>
              <a:buSzPct val="200000"/>
              <a:buFont typeface="Arial MT"/>
              <a:buChar char="•"/>
              <a:tabLst>
                <a:tab pos="443865" algn="l"/>
              </a:tabLst>
            </a:pPr>
            <a:r>
              <a:rPr sz="2000" u="heavy" spc="-10" dirty="0">
                <a:solidFill>
                  <a:srgbClr val="0000FF"/>
                </a:solidFill>
                <a:uFill>
                  <a:solidFill>
                    <a:srgbClr val="0000FF"/>
                  </a:solidFill>
                </a:uFill>
                <a:latin typeface="Times New Roman"/>
                <a:cs typeface="Times New Roman"/>
                <a:hlinkClick r:id="rId2"/>
              </a:rPr>
              <a:t>https://www.google.com/</a:t>
            </a:r>
            <a:endParaRPr sz="2000" dirty="0">
              <a:latin typeface="Times New Roman"/>
              <a:cs typeface="Times New Roman"/>
            </a:endParaRPr>
          </a:p>
          <a:p>
            <a:pPr marL="441959" marR="5080" indent="-429895" algn="just">
              <a:lnSpc>
                <a:spcPct val="100000"/>
              </a:lnSpc>
              <a:spcBef>
                <a:spcPts val="600"/>
              </a:spcBef>
              <a:buClr>
                <a:srgbClr val="878787"/>
              </a:buClr>
              <a:buSzPct val="200000"/>
              <a:buFont typeface="Arial MT"/>
              <a:buChar char="•"/>
              <a:tabLst>
                <a:tab pos="443865" algn="l"/>
              </a:tabLst>
            </a:pPr>
            <a:r>
              <a:rPr sz="2000" dirty="0">
                <a:solidFill>
                  <a:srgbClr val="2D2D2D"/>
                </a:solidFill>
                <a:latin typeface="Times New Roman"/>
                <a:cs typeface="Times New Roman"/>
              </a:rPr>
              <a:t>Tutorials</a:t>
            </a:r>
            <a:r>
              <a:rPr sz="2000" spc="355" dirty="0">
                <a:solidFill>
                  <a:srgbClr val="2D2D2D"/>
                </a:solidFill>
                <a:latin typeface="Times New Roman"/>
                <a:cs typeface="Times New Roman"/>
              </a:rPr>
              <a:t> </a:t>
            </a:r>
            <a:r>
              <a:rPr sz="2000" dirty="0">
                <a:solidFill>
                  <a:srgbClr val="2D2D2D"/>
                </a:solidFill>
                <a:latin typeface="Times New Roman"/>
                <a:cs typeface="Times New Roman"/>
              </a:rPr>
              <a:t>and</a:t>
            </a:r>
            <a:r>
              <a:rPr sz="2000" spc="340" dirty="0">
                <a:solidFill>
                  <a:srgbClr val="2D2D2D"/>
                </a:solidFill>
                <a:latin typeface="Times New Roman"/>
                <a:cs typeface="Times New Roman"/>
              </a:rPr>
              <a:t> </a:t>
            </a:r>
            <a:r>
              <a:rPr sz="2000" dirty="0">
                <a:solidFill>
                  <a:srgbClr val="2D2D2D"/>
                </a:solidFill>
                <a:latin typeface="Times New Roman"/>
                <a:cs typeface="Times New Roman"/>
              </a:rPr>
              <a:t>Guides:</a:t>
            </a:r>
            <a:r>
              <a:rPr sz="2000" spc="340" dirty="0">
                <a:solidFill>
                  <a:srgbClr val="2D2D2D"/>
                </a:solidFill>
                <a:latin typeface="Times New Roman"/>
                <a:cs typeface="Times New Roman"/>
              </a:rPr>
              <a:t> </a:t>
            </a:r>
            <a:r>
              <a:rPr sz="2000" dirty="0">
                <a:solidFill>
                  <a:srgbClr val="2D2D2D"/>
                </a:solidFill>
                <a:latin typeface="Times New Roman"/>
                <a:cs typeface="Times New Roman"/>
              </a:rPr>
              <a:t>Online</a:t>
            </a:r>
            <a:r>
              <a:rPr sz="2000" spc="345" dirty="0">
                <a:solidFill>
                  <a:srgbClr val="2D2D2D"/>
                </a:solidFill>
                <a:latin typeface="Times New Roman"/>
                <a:cs typeface="Times New Roman"/>
              </a:rPr>
              <a:t> </a:t>
            </a:r>
            <a:r>
              <a:rPr sz="2000" dirty="0">
                <a:solidFill>
                  <a:srgbClr val="2D2D2D"/>
                </a:solidFill>
                <a:latin typeface="Times New Roman"/>
                <a:cs typeface="Times New Roman"/>
              </a:rPr>
              <a:t>tutorials,</a:t>
            </a:r>
            <a:r>
              <a:rPr sz="2000" spc="345" dirty="0">
                <a:solidFill>
                  <a:srgbClr val="2D2D2D"/>
                </a:solidFill>
                <a:latin typeface="Times New Roman"/>
                <a:cs typeface="Times New Roman"/>
              </a:rPr>
              <a:t> </a:t>
            </a:r>
            <a:r>
              <a:rPr sz="2000" dirty="0">
                <a:solidFill>
                  <a:srgbClr val="2D2D2D"/>
                </a:solidFill>
                <a:latin typeface="Times New Roman"/>
                <a:cs typeface="Times New Roman"/>
              </a:rPr>
              <a:t>guides,</a:t>
            </a:r>
            <a:r>
              <a:rPr sz="2000" spc="350" dirty="0">
                <a:solidFill>
                  <a:srgbClr val="2D2D2D"/>
                </a:solidFill>
                <a:latin typeface="Times New Roman"/>
                <a:cs typeface="Times New Roman"/>
              </a:rPr>
              <a:t> </a:t>
            </a:r>
            <a:r>
              <a:rPr sz="2000" dirty="0">
                <a:solidFill>
                  <a:srgbClr val="2D2D2D"/>
                </a:solidFill>
                <a:latin typeface="Times New Roman"/>
                <a:cs typeface="Times New Roman"/>
              </a:rPr>
              <a:t>blog</a:t>
            </a:r>
            <a:r>
              <a:rPr sz="2000" spc="360" dirty="0">
                <a:solidFill>
                  <a:srgbClr val="2D2D2D"/>
                </a:solidFill>
                <a:latin typeface="Times New Roman"/>
                <a:cs typeface="Times New Roman"/>
              </a:rPr>
              <a:t> </a:t>
            </a:r>
            <a:r>
              <a:rPr sz="2000" dirty="0">
                <a:solidFill>
                  <a:srgbClr val="2D2D2D"/>
                </a:solidFill>
                <a:latin typeface="Times New Roman"/>
                <a:cs typeface="Times New Roman"/>
              </a:rPr>
              <a:t>posts,</a:t>
            </a:r>
            <a:r>
              <a:rPr sz="2000" spc="345" dirty="0">
                <a:solidFill>
                  <a:srgbClr val="2D2D2D"/>
                </a:solidFill>
                <a:latin typeface="Times New Roman"/>
                <a:cs typeface="Times New Roman"/>
              </a:rPr>
              <a:t> </a:t>
            </a:r>
            <a:r>
              <a:rPr sz="2000" dirty="0">
                <a:solidFill>
                  <a:srgbClr val="2D2D2D"/>
                </a:solidFill>
                <a:latin typeface="Times New Roman"/>
                <a:cs typeface="Times New Roman"/>
              </a:rPr>
              <a:t>and</a:t>
            </a:r>
            <a:r>
              <a:rPr sz="2000" spc="345" dirty="0">
                <a:solidFill>
                  <a:srgbClr val="2D2D2D"/>
                </a:solidFill>
                <a:latin typeface="Times New Roman"/>
                <a:cs typeface="Times New Roman"/>
              </a:rPr>
              <a:t> </a:t>
            </a:r>
            <a:r>
              <a:rPr sz="2000" dirty="0">
                <a:solidFill>
                  <a:srgbClr val="2D2D2D"/>
                </a:solidFill>
                <a:latin typeface="Times New Roman"/>
                <a:cs typeface="Times New Roman"/>
              </a:rPr>
              <a:t>educational</a:t>
            </a:r>
            <a:r>
              <a:rPr sz="2000" spc="355" dirty="0">
                <a:solidFill>
                  <a:srgbClr val="2D2D2D"/>
                </a:solidFill>
                <a:latin typeface="Times New Roman"/>
                <a:cs typeface="Times New Roman"/>
              </a:rPr>
              <a:t> </a:t>
            </a:r>
            <a:r>
              <a:rPr sz="2000" dirty="0">
                <a:solidFill>
                  <a:srgbClr val="2D2D2D"/>
                </a:solidFill>
                <a:latin typeface="Times New Roman"/>
                <a:cs typeface="Times New Roman"/>
              </a:rPr>
              <a:t>videos</a:t>
            </a:r>
            <a:r>
              <a:rPr sz="2000" spc="345" dirty="0">
                <a:solidFill>
                  <a:srgbClr val="2D2D2D"/>
                </a:solidFill>
                <a:latin typeface="Times New Roman"/>
                <a:cs typeface="Times New Roman"/>
              </a:rPr>
              <a:t> </a:t>
            </a:r>
            <a:r>
              <a:rPr sz="2000" spc="-20" dirty="0">
                <a:solidFill>
                  <a:srgbClr val="2D2D2D"/>
                </a:solidFill>
                <a:latin typeface="Times New Roman"/>
                <a:cs typeface="Times New Roman"/>
              </a:rPr>
              <a:t>that 	</a:t>
            </a:r>
            <a:r>
              <a:rPr sz="2000" dirty="0">
                <a:solidFill>
                  <a:srgbClr val="2D2D2D"/>
                </a:solidFill>
                <a:latin typeface="Times New Roman"/>
                <a:cs typeface="Times New Roman"/>
              </a:rPr>
              <a:t>provided</a:t>
            </a:r>
            <a:r>
              <a:rPr sz="2000" spc="-40" dirty="0">
                <a:solidFill>
                  <a:srgbClr val="2D2D2D"/>
                </a:solidFill>
                <a:latin typeface="Times New Roman"/>
                <a:cs typeface="Times New Roman"/>
              </a:rPr>
              <a:t> </a:t>
            </a:r>
            <a:r>
              <a:rPr sz="2000" dirty="0">
                <a:solidFill>
                  <a:srgbClr val="2D2D2D"/>
                </a:solidFill>
                <a:latin typeface="Times New Roman"/>
                <a:cs typeface="Times New Roman"/>
              </a:rPr>
              <a:t>assistance</a:t>
            </a:r>
            <a:r>
              <a:rPr sz="2000" spc="-5" dirty="0">
                <a:solidFill>
                  <a:srgbClr val="2D2D2D"/>
                </a:solidFill>
                <a:latin typeface="Times New Roman"/>
                <a:cs typeface="Times New Roman"/>
              </a:rPr>
              <a:t> </a:t>
            </a:r>
            <a:r>
              <a:rPr sz="2000" dirty="0">
                <a:solidFill>
                  <a:srgbClr val="2D2D2D"/>
                </a:solidFill>
                <a:latin typeface="Times New Roman"/>
                <a:cs typeface="Times New Roman"/>
              </a:rPr>
              <a:t>or</a:t>
            </a:r>
            <a:r>
              <a:rPr sz="2000" spc="-40" dirty="0">
                <a:solidFill>
                  <a:srgbClr val="2D2D2D"/>
                </a:solidFill>
                <a:latin typeface="Times New Roman"/>
                <a:cs typeface="Times New Roman"/>
              </a:rPr>
              <a:t> </a:t>
            </a:r>
            <a:r>
              <a:rPr sz="2000" dirty="0">
                <a:solidFill>
                  <a:srgbClr val="2D2D2D"/>
                </a:solidFill>
                <a:latin typeface="Times New Roman"/>
                <a:cs typeface="Times New Roman"/>
              </a:rPr>
              <a:t>insights</a:t>
            </a:r>
            <a:r>
              <a:rPr sz="2000" spc="-30" dirty="0">
                <a:solidFill>
                  <a:srgbClr val="2D2D2D"/>
                </a:solidFill>
                <a:latin typeface="Times New Roman"/>
                <a:cs typeface="Times New Roman"/>
              </a:rPr>
              <a:t> </a:t>
            </a:r>
            <a:r>
              <a:rPr sz="2000" dirty="0">
                <a:solidFill>
                  <a:srgbClr val="2D2D2D"/>
                </a:solidFill>
                <a:latin typeface="Times New Roman"/>
                <a:cs typeface="Times New Roman"/>
              </a:rPr>
              <a:t>during</a:t>
            </a:r>
            <a:r>
              <a:rPr sz="2000" spc="-35" dirty="0">
                <a:solidFill>
                  <a:srgbClr val="2D2D2D"/>
                </a:solidFill>
                <a:latin typeface="Times New Roman"/>
                <a:cs typeface="Times New Roman"/>
              </a:rPr>
              <a:t> </a:t>
            </a:r>
            <a:r>
              <a:rPr sz="2000" spc="-10" dirty="0">
                <a:solidFill>
                  <a:srgbClr val="2D2D2D"/>
                </a:solidFill>
                <a:latin typeface="Times New Roman"/>
                <a:cs typeface="Times New Roman"/>
              </a:rPr>
              <a:t>development.</a:t>
            </a:r>
            <a:endParaRPr sz="2000" dirty="0">
              <a:latin typeface="Times New Roman"/>
              <a:cs typeface="Times New Roman"/>
            </a:endParaRPr>
          </a:p>
          <a:p>
            <a:pPr marL="443865" indent="-431165">
              <a:lnSpc>
                <a:spcPct val="100000"/>
              </a:lnSpc>
              <a:spcBef>
                <a:spcPts val="600"/>
              </a:spcBef>
              <a:buClr>
                <a:srgbClr val="878787"/>
              </a:buClr>
              <a:buSzPct val="200000"/>
              <a:buFont typeface="Arial MT"/>
              <a:buChar char="•"/>
              <a:tabLst>
                <a:tab pos="443865" algn="l"/>
              </a:tabLst>
            </a:pPr>
            <a:r>
              <a:rPr sz="2000" spc="-10" dirty="0">
                <a:solidFill>
                  <a:srgbClr val="2D2D2D"/>
                </a:solidFill>
                <a:latin typeface="Times New Roman"/>
                <a:cs typeface="Times New Roman"/>
              </a:rPr>
              <a:t>https:</a:t>
            </a:r>
            <a:r>
              <a:rPr sz="2000" spc="-10" dirty="0">
                <a:solidFill>
                  <a:srgbClr val="2D2D2D"/>
                </a:solidFill>
                <a:latin typeface="Times New Roman"/>
                <a:cs typeface="Times New Roman"/>
                <a:hlinkClick r:id="rId3"/>
              </a:rPr>
              <a:t>//www.geeksforgeeks.org/</a:t>
            </a:r>
            <a:endParaRPr sz="2000" dirty="0">
              <a:latin typeface="Times New Roman"/>
              <a:cs typeface="Times New Roman"/>
            </a:endParaRPr>
          </a:p>
          <a:p>
            <a:pPr marL="441959" marR="6350" indent="-429895" algn="just">
              <a:lnSpc>
                <a:spcPct val="100000"/>
              </a:lnSpc>
              <a:spcBef>
                <a:spcPts val="605"/>
              </a:spcBef>
              <a:buClr>
                <a:srgbClr val="878787"/>
              </a:buClr>
              <a:buSzPct val="200000"/>
              <a:buFont typeface="Arial MT"/>
              <a:buChar char="•"/>
              <a:tabLst>
                <a:tab pos="443865" algn="l"/>
              </a:tabLst>
            </a:pPr>
            <a:r>
              <a:rPr sz="2000" dirty="0">
                <a:solidFill>
                  <a:srgbClr val="2D2D2D"/>
                </a:solidFill>
                <a:latin typeface="Times New Roman"/>
                <a:cs typeface="Times New Roman"/>
              </a:rPr>
              <a:t>Code</a:t>
            </a:r>
            <a:r>
              <a:rPr sz="2000" spc="280" dirty="0">
                <a:solidFill>
                  <a:srgbClr val="2D2D2D"/>
                </a:solidFill>
                <a:latin typeface="Times New Roman"/>
                <a:cs typeface="Times New Roman"/>
              </a:rPr>
              <a:t> </a:t>
            </a:r>
            <a:r>
              <a:rPr sz="2000" dirty="0">
                <a:solidFill>
                  <a:srgbClr val="2D2D2D"/>
                </a:solidFill>
                <a:latin typeface="Times New Roman"/>
                <a:cs typeface="Times New Roman"/>
              </a:rPr>
              <a:t>Repositories:</a:t>
            </a:r>
            <a:r>
              <a:rPr sz="2000" spc="285" dirty="0">
                <a:solidFill>
                  <a:srgbClr val="2D2D2D"/>
                </a:solidFill>
                <a:latin typeface="Times New Roman"/>
                <a:cs typeface="Times New Roman"/>
              </a:rPr>
              <a:t> </a:t>
            </a:r>
            <a:r>
              <a:rPr sz="2000" dirty="0">
                <a:solidFill>
                  <a:srgbClr val="2D2D2D"/>
                </a:solidFill>
                <a:latin typeface="Times New Roman"/>
                <a:cs typeface="Times New Roman"/>
              </a:rPr>
              <a:t>GitHub</a:t>
            </a:r>
            <a:r>
              <a:rPr sz="2000" spc="290" dirty="0">
                <a:solidFill>
                  <a:srgbClr val="2D2D2D"/>
                </a:solidFill>
                <a:latin typeface="Times New Roman"/>
                <a:cs typeface="Times New Roman"/>
              </a:rPr>
              <a:t> </a:t>
            </a:r>
            <a:r>
              <a:rPr sz="2000" dirty="0">
                <a:solidFill>
                  <a:srgbClr val="2D2D2D"/>
                </a:solidFill>
                <a:latin typeface="Times New Roman"/>
                <a:cs typeface="Times New Roman"/>
              </a:rPr>
              <a:t>repositories</a:t>
            </a:r>
            <a:r>
              <a:rPr sz="2000" spc="290" dirty="0">
                <a:solidFill>
                  <a:srgbClr val="2D2D2D"/>
                </a:solidFill>
                <a:latin typeface="Times New Roman"/>
                <a:cs typeface="Times New Roman"/>
              </a:rPr>
              <a:t> </a:t>
            </a:r>
            <a:r>
              <a:rPr sz="2000" dirty="0">
                <a:solidFill>
                  <a:srgbClr val="2D2D2D"/>
                </a:solidFill>
                <a:latin typeface="Times New Roman"/>
                <a:cs typeface="Times New Roman"/>
              </a:rPr>
              <a:t>or</a:t>
            </a:r>
            <a:r>
              <a:rPr sz="2000" spc="295" dirty="0">
                <a:solidFill>
                  <a:srgbClr val="2D2D2D"/>
                </a:solidFill>
                <a:latin typeface="Times New Roman"/>
                <a:cs typeface="Times New Roman"/>
              </a:rPr>
              <a:t> </a:t>
            </a:r>
            <a:r>
              <a:rPr sz="2000" dirty="0">
                <a:solidFill>
                  <a:srgbClr val="2D2D2D"/>
                </a:solidFill>
                <a:latin typeface="Times New Roman"/>
                <a:cs typeface="Times New Roman"/>
              </a:rPr>
              <a:t>other</a:t>
            </a:r>
            <a:r>
              <a:rPr sz="2000" spc="285" dirty="0">
                <a:solidFill>
                  <a:srgbClr val="2D2D2D"/>
                </a:solidFill>
                <a:latin typeface="Times New Roman"/>
                <a:cs typeface="Times New Roman"/>
              </a:rPr>
              <a:t> </a:t>
            </a:r>
            <a:r>
              <a:rPr sz="2000" dirty="0">
                <a:solidFill>
                  <a:srgbClr val="2D2D2D"/>
                </a:solidFill>
                <a:latin typeface="Times New Roman"/>
                <a:cs typeface="Times New Roman"/>
              </a:rPr>
              <a:t>code</a:t>
            </a:r>
            <a:r>
              <a:rPr sz="2000" spc="300" dirty="0">
                <a:solidFill>
                  <a:srgbClr val="2D2D2D"/>
                </a:solidFill>
                <a:latin typeface="Times New Roman"/>
                <a:cs typeface="Times New Roman"/>
              </a:rPr>
              <a:t> </a:t>
            </a:r>
            <a:r>
              <a:rPr sz="2000" dirty="0">
                <a:solidFill>
                  <a:srgbClr val="2D2D2D"/>
                </a:solidFill>
                <a:latin typeface="Times New Roman"/>
                <a:cs typeface="Times New Roman"/>
              </a:rPr>
              <a:t>repositories</a:t>
            </a:r>
            <a:r>
              <a:rPr sz="2000" spc="305" dirty="0">
                <a:solidFill>
                  <a:srgbClr val="2D2D2D"/>
                </a:solidFill>
                <a:latin typeface="Times New Roman"/>
                <a:cs typeface="Times New Roman"/>
              </a:rPr>
              <a:t> </a:t>
            </a:r>
            <a:r>
              <a:rPr sz="2000" dirty="0">
                <a:solidFill>
                  <a:srgbClr val="2D2D2D"/>
                </a:solidFill>
                <a:latin typeface="Times New Roman"/>
                <a:cs typeface="Times New Roman"/>
              </a:rPr>
              <a:t>where</a:t>
            </a:r>
            <a:r>
              <a:rPr sz="2000" spc="285" dirty="0">
                <a:solidFill>
                  <a:srgbClr val="2D2D2D"/>
                </a:solidFill>
                <a:latin typeface="Times New Roman"/>
                <a:cs typeface="Times New Roman"/>
              </a:rPr>
              <a:t> </a:t>
            </a:r>
            <a:r>
              <a:rPr sz="2000" dirty="0">
                <a:solidFill>
                  <a:srgbClr val="2D2D2D"/>
                </a:solidFill>
                <a:latin typeface="Times New Roman"/>
                <a:cs typeface="Times New Roman"/>
              </a:rPr>
              <a:t>code</a:t>
            </a:r>
            <a:r>
              <a:rPr sz="2000" spc="285" dirty="0">
                <a:solidFill>
                  <a:srgbClr val="2D2D2D"/>
                </a:solidFill>
                <a:latin typeface="Times New Roman"/>
                <a:cs typeface="Times New Roman"/>
              </a:rPr>
              <a:t> </a:t>
            </a:r>
            <a:r>
              <a:rPr sz="2000" spc="-10" dirty="0">
                <a:solidFill>
                  <a:srgbClr val="2D2D2D"/>
                </a:solidFill>
                <a:latin typeface="Times New Roman"/>
                <a:cs typeface="Times New Roman"/>
              </a:rPr>
              <a:t>snippets, 	</a:t>
            </a:r>
            <a:r>
              <a:rPr sz="2000" dirty="0">
                <a:solidFill>
                  <a:srgbClr val="2D2D2D"/>
                </a:solidFill>
                <a:latin typeface="Times New Roman"/>
                <a:cs typeface="Times New Roman"/>
              </a:rPr>
              <a:t>examples, or</a:t>
            </a:r>
            <a:r>
              <a:rPr sz="2000" spc="-50" dirty="0">
                <a:solidFill>
                  <a:srgbClr val="2D2D2D"/>
                </a:solidFill>
                <a:latin typeface="Times New Roman"/>
                <a:cs typeface="Times New Roman"/>
              </a:rPr>
              <a:t> </a:t>
            </a:r>
            <a:r>
              <a:rPr sz="2000" dirty="0">
                <a:solidFill>
                  <a:srgbClr val="2D2D2D"/>
                </a:solidFill>
                <a:latin typeface="Times New Roman"/>
                <a:cs typeface="Times New Roman"/>
              </a:rPr>
              <a:t>inspiration</a:t>
            </a:r>
            <a:r>
              <a:rPr sz="2000" spc="-15" dirty="0">
                <a:solidFill>
                  <a:srgbClr val="2D2D2D"/>
                </a:solidFill>
                <a:latin typeface="Times New Roman"/>
                <a:cs typeface="Times New Roman"/>
              </a:rPr>
              <a:t> </a:t>
            </a:r>
            <a:r>
              <a:rPr sz="2000" dirty="0">
                <a:solidFill>
                  <a:srgbClr val="2D2D2D"/>
                </a:solidFill>
                <a:latin typeface="Times New Roman"/>
                <a:cs typeface="Times New Roman"/>
              </a:rPr>
              <a:t>were</a:t>
            </a:r>
            <a:r>
              <a:rPr sz="2000" spc="-35" dirty="0">
                <a:solidFill>
                  <a:srgbClr val="2D2D2D"/>
                </a:solidFill>
                <a:latin typeface="Times New Roman"/>
                <a:cs typeface="Times New Roman"/>
              </a:rPr>
              <a:t> </a:t>
            </a:r>
            <a:r>
              <a:rPr sz="2000" spc="-10" dirty="0">
                <a:solidFill>
                  <a:srgbClr val="2D2D2D"/>
                </a:solidFill>
                <a:latin typeface="Times New Roman"/>
                <a:cs typeface="Times New Roman"/>
              </a:rPr>
              <a:t>found.</a:t>
            </a:r>
            <a:endParaRPr sz="2000" dirty="0">
              <a:latin typeface="Times New Roman"/>
              <a:cs typeface="Times New Roman"/>
            </a:endParaRPr>
          </a:p>
          <a:p>
            <a:pPr marL="443865" indent="-431165">
              <a:lnSpc>
                <a:spcPct val="100000"/>
              </a:lnSpc>
              <a:spcBef>
                <a:spcPts val="600"/>
              </a:spcBef>
              <a:buClr>
                <a:srgbClr val="878787"/>
              </a:buClr>
              <a:buSzPct val="200000"/>
              <a:buFont typeface="Arial MT"/>
              <a:buChar char="•"/>
              <a:tabLst>
                <a:tab pos="443865" algn="l"/>
              </a:tabLst>
            </a:pPr>
            <a:r>
              <a:rPr sz="2000" u="heavy" spc="-10" dirty="0">
                <a:solidFill>
                  <a:srgbClr val="0000FF"/>
                </a:solidFill>
                <a:uFill>
                  <a:solidFill>
                    <a:srgbClr val="0000FF"/>
                  </a:solidFill>
                </a:uFill>
                <a:latin typeface="Times New Roman"/>
                <a:cs typeface="Times New Roman"/>
                <a:hlinkClick r:id="rId4"/>
              </a:rPr>
              <a:t>https://chat.openai.com/</a:t>
            </a:r>
            <a:endParaRPr sz="2000" dirty="0">
              <a:latin typeface="Times New Roman"/>
              <a:cs typeface="Times New Roman"/>
            </a:endParaRPr>
          </a:p>
          <a:p>
            <a:pPr marL="442595" marR="5715" indent="-430530" algn="just">
              <a:lnSpc>
                <a:spcPct val="100000"/>
              </a:lnSpc>
              <a:spcBef>
                <a:spcPts val="600"/>
              </a:spcBef>
              <a:buClr>
                <a:srgbClr val="878787"/>
              </a:buClr>
              <a:buSzPct val="200000"/>
              <a:buFont typeface="Arial MT"/>
              <a:buChar char="•"/>
              <a:tabLst>
                <a:tab pos="443865" algn="l"/>
              </a:tabLst>
            </a:pPr>
            <a:r>
              <a:rPr sz="2000" dirty="0">
                <a:solidFill>
                  <a:srgbClr val="2D2D2D"/>
                </a:solidFill>
                <a:latin typeface="Times New Roman"/>
                <a:cs typeface="Times New Roman"/>
              </a:rPr>
              <a:t>Forums</a:t>
            </a:r>
            <a:r>
              <a:rPr sz="2000" spc="-5" dirty="0">
                <a:solidFill>
                  <a:srgbClr val="2D2D2D"/>
                </a:solidFill>
                <a:latin typeface="Times New Roman"/>
                <a:cs typeface="Times New Roman"/>
              </a:rPr>
              <a:t> </a:t>
            </a:r>
            <a:r>
              <a:rPr sz="2000" dirty="0">
                <a:solidFill>
                  <a:srgbClr val="2D2D2D"/>
                </a:solidFill>
                <a:latin typeface="Times New Roman"/>
                <a:cs typeface="Times New Roman"/>
              </a:rPr>
              <a:t>and</a:t>
            </a:r>
            <a:r>
              <a:rPr sz="2000" spc="-15" dirty="0">
                <a:solidFill>
                  <a:srgbClr val="2D2D2D"/>
                </a:solidFill>
                <a:latin typeface="Times New Roman"/>
                <a:cs typeface="Times New Roman"/>
              </a:rPr>
              <a:t> </a:t>
            </a:r>
            <a:r>
              <a:rPr sz="2000" dirty="0">
                <a:solidFill>
                  <a:srgbClr val="2D2D2D"/>
                </a:solidFill>
                <a:latin typeface="Times New Roman"/>
                <a:cs typeface="Times New Roman"/>
              </a:rPr>
              <a:t>Communities:</a:t>
            </a:r>
            <a:r>
              <a:rPr sz="2000" spc="-25" dirty="0">
                <a:solidFill>
                  <a:srgbClr val="2D2D2D"/>
                </a:solidFill>
                <a:latin typeface="Times New Roman"/>
                <a:cs typeface="Times New Roman"/>
              </a:rPr>
              <a:t> </a:t>
            </a:r>
            <a:r>
              <a:rPr sz="2000" dirty="0">
                <a:solidFill>
                  <a:srgbClr val="2D2D2D"/>
                </a:solidFill>
                <a:latin typeface="Times New Roman"/>
                <a:cs typeface="Times New Roman"/>
              </a:rPr>
              <a:t>Online</a:t>
            </a:r>
            <a:r>
              <a:rPr sz="2000" spc="-20" dirty="0">
                <a:solidFill>
                  <a:srgbClr val="2D2D2D"/>
                </a:solidFill>
                <a:latin typeface="Times New Roman"/>
                <a:cs typeface="Times New Roman"/>
              </a:rPr>
              <a:t> </a:t>
            </a:r>
            <a:r>
              <a:rPr sz="2000" dirty="0">
                <a:solidFill>
                  <a:srgbClr val="2D2D2D"/>
                </a:solidFill>
                <a:latin typeface="Times New Roman"/>
                <a:cs typeface="Times New Roman"/>
              </a:rPr>
              <a:t>forums,</a:t>
            </a:r>
            <a:r>
              <a:rPr sz="2000" spc="-20" dirty="0">
                <a:solidFill>
                  <a:srgbClr val="2D2D2D"/>
                </a:solidFill>
                <a:latin typeface="Times New Roman"/>
                <a:cs typeface="Times New Roman"/>
              </a:rPr>
              <a:t> </a:t>
            </a:r>
            <a:r>
              <a:rPr sz="2000" dirty="0">
                <a:solidFill>
                  <a:srgbClr val="2D2D2D"/>
                </a:solidFill>
                <a:latin typeface="Times New Roman"/>
                <a:cs typeface="Times New Roman"/>
              </a:rPr>
              <a:t>such</a:t>
            </a:r>
            <a:r>
              <a:rPr sz="2000" spc="-10" dirty="0">
                <a:solidFill>
                  <a:srgbClr val="2D2D2D"/>
                </a:solidFill>
                <a:latin typeface="Times New Roman"/>
                <a:cs typeface="Times New Roman"/>
              </a:rPr>
              <a:t> </a:t>
            </a:r>
            <a:r>
              <a:rPr sz="2000" dirty="0">
                <a:solidFill>
                  <a:srgbClr val="2D2D2D"/>
                </a:solidFill>
                <a:latin typeface="Times New Roman"/>
                <a:cs typeface="Times New Roman"/>
              </a:rPr>
              <a:t>as</a:t>
            </a:r>
            <a:r>
              <a:rPr sz="2000" spc="-20" dirty="0">
                <a:solidFill>
                  <a:srgbClr val="2D2D2D"/>
                </a:solidFill>
                <a:latin typeface="Times New Roman"/>
                <a:cs typeface="Times New Roman"/>
              </a:rPr>
              <a:t> </a:t>
            </a:r>
            <a:r>
              <a:rPr sz="2000" dirty="0">
                <a:solidFill>
                  <a:srgbClr val="2D2D2D"/>
                </a:solidFill>
                <a:latin typeface="Times New Roman"/>
                <a:cs typeface="Times New Roman"/>
              </a:rPr>
              <a:t>Stack</a:t>
            </a:r>
            <a:r>
              <a:rPr sz="2000" spc="-15" dirty="0">
                <a:solidFill>
                  <a:srgbClr val="2D2D2D"/>
                </a:solidFill>
                <a:latin typeface="Times New Roman"/>
                <a:cs typeface="Times New Roman"/>
              </a:rPr>
              <a:t> </a:t>
            </a:r>
            <a:r>
              <a:rPr sz="2000" dirty="0">
                <a:solidFill>
                  <a:srgbClr val="2D2D2D"/>
                </a:solidFill>
                <a:latin typeface="Times New Roman"/>
                <a:cs typeface="Times New Roman"/>
              </a:rPr>
              <a:t>Overflow</a:t>
            </a:r>
            <a:r>
              <a:rPr sz="2000" spc="-25" dirty="0">
                <a:solidFill>
                  <a:srgbClr val="2D2D2D"/>
                </a:solidFill>
                <a:latin typeface="Times New Roman"/>
                <a:cs typeface="Times New Roman"/>
              </a:rPr>
              <a:t> </a:t>
            </a:r>
            <a:r>
              <a:rPr sz="2000" dirty="0">
                <a:solidFill>
                  <a:srgbClr val="2D2D2D"/>
                </a:solidFill>
                <a:latin typeface="Times New Roman"/>
                <a:cs typeface="Times New Roman"/>
              </a:rPr>
              <a:t>or</a:t>
            </a:r>
            <a:r>
              <a:rPr sz="2000" spc="-25" dirty="0">
                <a:solidFill>
                  <a:srgbClr val="2D2D2D"/>
                </a:solidFill>
                <a:latin typeface="Times New Roman"/>
                <a:cs typeface="Times New Roman"/>
              </a:rPr>
              <a:t> </a:t>
            </a:r>
            <a:r>
              <a:rPr sz="2000" dirty="0">
                <a:solidFill>
                  <a:srgbClr val="2D2D2D"/>
                </a:solidFill>
                <a:latin typeface="Times New Roman"/>
                <a:cs typeface="Times New Roman"/>
              </a:rPr>
              <a:t>Reddit,</a:t>
            </a:r>
            <a:r>
              <a:rPr sz="2000" spc="-25" dirty="0">
                <a:solidFill>
                  <a:srgbClr val="2D2D2D"/>
                </a:solidFill>
                <a:latin typeface="Times New Roman"/>
                <a:cs typeface="Times New Roman"/>
              </a:rPr>
              <a:t> </a:t>
            </a:r>
            <a:r>
              <a:rPr sz="2000" dirty="0">
                <a:solidFill>
                  <a:srgbClr val="2D2D2D"/>
                </a:solidFill>
                <a:latin typeface="Times New Roman"/>
                <a:cs typeface="Times New Roman"/>
              </a:rPr>
              <a:t>and</a:t>
            </a:r>
            <a:r>
              <a:rPr sz="2000" spc="-15" dirty="0">
                <a:solidFill>
                  <a:srgbClr val="2D2D2D"/>
                </a:solidFill>
                <a:latin typeface="Times New Roman"/>
                <a:cs typeface="Times New Roman"/>
              </a:rPr>
              <a:t> </a:t>
            </a:r>
            <a:r>
              <a:rPr sz="2000" spc="-10" dirty="0">
                <a:solidFill>
                  <a:srgbClr val="2D2D2D"/>
                </a:solidFill>
                <a:latin typeface="Times New Roman"/>
                <a:cs typeface="Times New Roman"/>
              </a:rPr>
              <a:t>developer 	</a:t>
            </a:r>
            <a:r>
              <a:rPr sz="2000" dirty="0">
                <a:solidFill>
                  <a:srgbClr val="2D2D2D"/>
                </a:solidFill>
                <a:latin typeface="Times New Roman"/>
                <a:cs typeface="Times New Roman"/>
              </a:rPr>
              <a:t>communities</a:t>
            </a:r>
            <a:r>
              <a:rPr sz="2000" spc="110" dirty="0">
                <a:solidFill>
                  <a:srgbClr val="2D2D2D"/>
                </a:solidFill>
                <a:latin typeface="Times New Roman"/>
                <a:cs typeface="Times New Roman"/>
              </a:rPr>
              <a:t>  </a:t>
            </a:r>
            <a:r>
              <a:rPr sz="2000" dirty="0">
                <a:solidFill>
                  <a:srgbClr val="2D2D2D"/>
                </a:solidFill>
                <a:latin typeface="Times New Roman"/>
                <a:cs typeface="Times New Roman"/>
              </a:rPr>
              <a:t>where</a:t>
            </a:r>
            <a:r>
              <a:rPr sz="2000" spc="110" dirty="0">
                <a:solidFill>
                  <a:srgbClr val="2D2D2D"/>
                </a:solidFill>
                <a:latin typeface="Times New Roman"/>
                <a:cs typeface="Times New Roman"/>
              </a:rPr>
              <a:t>  </a:t>
            </a:r>
            <a:r>
              <a:rPr sz="2000" dirty="0">
                <a:solidFill>
                  <a:srgbClr val="2D2D2D"/>
                </a:solidFill>
                <a:latin typeface="Times New Roman"/>
                <a:cs typeface="Times New Roman"/>
              </a:rPr>
              <a:t>questions</a:t>
            </a:r>
            <a:r>
              <a:rPr sz="2000" spc="110" dirty="0">
                <a:solidFill>
                  <a:srgbClr val="2D2D2D"/>
                </a:solidFill>
                <a:latin typeface="Times New Roman"/>
                <a:cs typeface="Times New Roman"/>
              </a:rPr>
              <a:t>  </a:t>
            </a:r>
            <a:r>
              <a:rPr sz="2000" dirty="0">
                <a:solidFill>
                  <a:srgbClr val="2D2D2D"/>
                </a:solidFill>
                <a:latin typeface="Times New Roman"/>
                <a:cs typeface="Times New Roman"/>
              </a:rPr>
              <a:t>were</a:t>
            </a:r>
            <a:r>
              <a:rPr sz="2000" spc="110" dirty="0">
                <a:solidFill>
                  <a:srgbClr val="2D2D2D"/>
                </a:solidFill>
                <a:latin typeface="Times New Roman"/>
                <a:cs typeface="Times New Roman"/>
              </a:rPr>
              <a:t>  </a:t>
            </a:r>
            <a:r>
              <a:rPr sz="2000" dirty="0">
                <a:solidFill>
                  <a:srgbClr val="2D2D2D"/>
                </a:solidFill>
                <a:latin typeface="Times New Roman"/>
                <a:cs typeface="Times New Roman"/>
              </a:rPr>
              <a:t>asked,</a:t>
            </a:r>
            <a:r>
              <a:rPr sz="2000" spc="114" dirty="0">
                <a:solidFill>
                  <a:srgbClr val="2D2D2D"/>
                </a:solidFill>
                <a:latin typeface="Times New Roman"/>
                <a:cs typeface="Times New Roman"/>
              </a:rPr>
              <a:t>  </a:t>
            </a:r>
            <a:r>
              <a:rPr sz="2000" dirty="0">
                <a:solidFill>
                  <a:srgbClr val="2D2D2D"/>
                </a:solidFill>
                <a:latin typeface="Times New Roman"/>
                <a:cs typeface="Times New Roman"/>
              </a:rPr>
              <a:t>advice</a:t>
            </a:r>
            <a:r>
              <a:rPr sz="2000" spc="120" dirty="0">
                <a:solidFill>
                  <a:srgbClr val="2D2D2D"/>
                </a:solidFill>
                <a:latin typeface="Times New Roman"/>
                <a:cs typeface="Times New Roman"/>
              </a:rPr>
              <a:t>  </a:t>
            </a:r>
            <a:r>
              <a:rPr sz="2000" dirty="0">
                <a:solidFill>
                  <a:srgbClr val="2D2D2D"/>
                </a:solidFill>
                <a:latin typeface="Times New Roman"/>
                <a:cs typeface="Times New Roman"/>
              </a:rPr>
              <a:t>was</a:t>
            </a:r>
            <a:r>
              <a:rPr sz="2000" spc="105" dirty="0">
                <a:solidFill>
                  <a:srgbClr val="2D2D2D"/>
                </a:solidFill>
                <a:latin typeface="Times New Roman"/>
                <a:cs typeface="Times New Roman"/>
              </a:rPr>
              <a:t>  </a:t>
            </a:r>
            <a:r>
              <a:rPr sz="2000" dirty="0">
                <a:solidFill>
                  <a:srgbClr val="2D2D2D"/>
                </a:solidFill>
                <a:latin typeface="Times New Roman"/>
                <a:cs typeface="Times New Roman"/>
              </a:rPr>
              <a:t>sought,</a:t>
            </a:r>
            <a:r>
              <a:rPr sz="2000" spc="110" dirty="0">
                <a:solidFill>
                  <a:srgbClr val="2D2D2D"/>
                </a:solidFill>
                <a:latin typeface="Times New Roman"/>
                <a:cs typeface="Times New Roman"/>
              </a:rPr>
              <a:t>  </a:t>
            </a:r>
            <a:r>
              <a:rPr sz="2000" dirty="0">
                <a:solidFill>
                  <a:srgbClr val="2D2D2D"/>
                </a:solidFill>
                <a:latin typeface="Times New Roman"/>
                <a:cs typeface="Times New Roman"/>
              </a:rPr>
              <a:t>or</a:t>
            </a:r>
            <a:r>
              <a:rPr sz="2000" spc="114" dirty="0">
                <a:solidFill>
                  <a:srgbClr val="2D2D2D"/>
                </a:solidFill>
                <a:latin typeface="Times New Roman"/>
                <a:cs typeface="Times New Roman"/>
              </a:rPr>
              <a:t>  </a:t>
            </a:r>
            <a:r>
              <a:rPr sz="2000" dirty="0">
                <a:solidFill>
                  <a:srgbClr val="2D2D2D"/>
                </a:solidFill>
                <a:latin typeface="Times New Roman"/>
                <a:cs typeface="Times New Roman"/>
              </a:rPr>
              <a:t>discussions</a:t>
            </a:r>
            <a:r>
              <a:rPr sz="2000" spc="110" dirty="0">
                <a:solidFill>
                  <a:srgbClr val="2D2D2D"/>
                </a:solidFill>
                <a:latin typeface="Times New Roman"/>
                <a:cs typeface="Times New Roman"/>
              </a:rPr>
              <a:t>  </a:t>
            </a:r>
            <a:r>
              <a:rPr sz="2000" spc="-20" dirty="0">
                <a:solidFill>
                  <a:srgbClr val="2D2D2D"/>
                </a:solidFill>
                <a:latin typeface="Times New Roman"/>
                <a:cs typeface="Times New Roman"/>
              </a:rPr>
              <a:t>were 	</a:t>
            </a:r>
            <a:r>
              <a:rPr sz="2000" dirty="0">
                <a:solidFill>
                  <a:srgbClr val="2D2D2D"/>
                </a:solidFill>
                <a:latin typeface="Times New Roman"/>
                <a:cs typeface="Times New Roman"/>
              </a:rPr>
              <a:t>participated</a:t>
            </a:r>
            <a:r>
              <a:rPr sz="2000" spc="-30" dirty="0">
                <a:solidFill>
                  <a:srgbClr val="2D2D2D"/>
                </a:solidFill>
                <a:latin typeface="Times New Roman"/>
                <a:cs typeface="Times New Roman"/>
              </a:rPr>
              <a:t> </a:t>
            </a:r>
            <a:r>
              <a:rPr sz="2000" spc="-25" dirty="0">
                <a:solidFill>
                  <a:srgbClr val="2D2D2D"/>
                </a:solidFill>
                <a:latin typeface="Times New Roman"/>
                <a:cs typeface="Times New Roman"/>
              </a:rPr>
              <a:t>in.</a:t>
            </a:r>
            <a:endParaRPr sz="2000" dirty="0">
              <a:latin typeface="Times New Roman"/>
              <a:cs typeface="Times New Roman"/>
            </a:endParaRPr>
          </a:p>
          <a:p>
            <a:pPr marL="12064" marR="5080" algn="just">
              <a:lnSpc>
                <a:spcPct val="100000"/>
              </a:lnSpc>
              <a:spcBef>
                <a:spcPts val="600"/>
              </a:spcBef>
              <a:buClr>
                <a:srgbClr val="878787"/>
              </a:buClr>
              <a:buSzPct val="200000"/>
              <a:tabLst>
                <a:tab pos="443865" algn="l"/>
              </a:tabLst>
            </a:pPr>
            <a:r>
              <a:rPr sz="2000" spc="-10" dirty="0">
                <a:solidFill>
                  <a:srgbClr val="2D2D2D"/>
                </a:solidFill>
                <a:latin typeface="Times New Roman"/>
                <a:cs typeface="Times New Roman"/>
              </a:rPr>
              <a:t>.</a:t>
            </a:r>
            <a:endParaRPr sz="2000" dirty="0">
              <a:latin typeface="Times New Roman"/>
              <a:cs typeface="Times New Roman"/>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prstGeom prst="rect">
            <a:avLst/>
          </a:prstGeom>
        </p:spPr>
        <p:txBody>
          <a:bodyPr vert="horz" wrap="square" lIns="0" tIns="138049" rIns="0" bIns="0" rtlCol="0">
            <a:spAutoFit/>
          </a:bodyPr>
          <a:lstStyle/>
          <a:p>
            <a:pPr marL="839469">
              <a:lnSpc>
                <a:spcPct val="100000"/>
              </a:lnSpc>
              <a:spcBef>
                <a:spcPts val="105"/>
              </a:spcBef>
            </a:pPr>
            <a:r>
              <a:rPr dirty="0"/>
              <a:t>Q&amp;A</a:t>
            </a:r>
            <a:r>
              <a:rPr spc="-15" dirty="0"/>
              <a:t> </a:t>
            </a:r>
            <a:r>
              <a:rPr dirty="0"/>
              <a:t>/</a:t>
            </a:r>
            <a:r>
              <a:rPr spc="-15" dirty="0"/>
              <a:t> </a:t>
            </a:r>
            <a:r>
              <a:rPr spc="-10" dirty="0"/>
              <a:t>Discussion</a:t>
            </a:r>
          </a:p>
        </p:txBody>
      </p:sp>
      <p:sp>
        <p:nvSpPr>
          <p:cNvPr id="4" name="object 4"/>
          <p:cNvSpPr txBox="1">
            <a:spLocks noGrp="1"/>
          </p:cNvSpPr>
          <p:nvPr>
            <p:ph type="sldNum" sz="quarter" idx="7"/>
          </p:nvPr>
        </p:nvSpPr>
        <p:spPr>
          <a:prstGeom prst="rect">
            <a:avLst/>
          </a:prstGeom>
        </p:spPr>
        <p:txBody>
          <a:bodyPr vert="horz" wrap="square" lIns="0" tIns="0" rIns="0" bIns="0" rtlCol="0">
            <a:spAutoFit/>
          </a:bodyPr>
          <a:lstStyle/>
          <a:p>
            <a:pPr marL="12700">
              <a:lnSpc>
                <a:spcPts val="1410"/>
              </a:lnSpc>
            </a:pPr>
            <a:fld id="{81D60167-4931-47E6-BA6A-407CBD079E47}" type="slidenum">
              <a:rPr spc="-25" dirty="0"/>
              <a:t>12</a:t>
            </a:fld>
            <a:endParaRPr spc="-25" dirty="0"/>
          </a:p>
        </p:txBody>
      </p:sp>
      <p:sp>
        <p:nvSpPr>
          <p:cNvPr id="3" name="object 3"/>
          <p:cNvSpPr txBox="1"/>
          <p:nvPr/>
        </p:nvSpPr>
        <p:spPr>
          <a:xfrm>
            <a:off x="427431" y="1346961"/>
            <a:ext cx="7971155" cy="5195653"/>
          </a:xfrm>
          <a:prstGeom prst="rect">
            <a:avLst/>
          </a:prstGeom>
        </p:spPr>
        <p:txBody>
          <a:bodyPr vert="horz" wrap="square" lIns="0" tIns="12065" rIns="0" bIns="0" rtlCol="0">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1. Cross-Device Responsiveness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 Smooth booking experience on mobile and desktop.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 Used </a:t>
            </a: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React’s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responsive design principles.</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2. Efficient Data Handling</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 Managing multiple projects, staff, clients, and appointments simultaneously.</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 Optimized MongoDB queries &amp; structured schema.</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3. Scalability of Backend</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 Handling growing users and real-time bookings.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 Node.js &amp; Express.js with load balancing.</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4. Email Notifications</a:t>
            </a: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Challenge: Sending secure login credentials &amp; meeting confirmations.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Solution: Integrated mailing service for automated notifications.</a:t>
            </a:r>
          </a:p>
          <a:p>
            <a:pPr marL="214629" indent="-201930">
              <a:lnSpc>
                <a:spcPct val="100000"/>
              </a:lnSpc>
              <a:spcBef>
                <a:spcPts val="95"/>
              </a:spcBef>
              <a:buAutoNum type="arabicPeriod"/>
              <a:tabLst>
                <a:tab pos="214629" algn="l"/>
              </a:tabLst>
            </a:pPr>
            <a:endParaRPr sz="1600" dirty="0">
              <a:latin typeface="Times New Roman"/>
              <a:cs typeface="Times New Roman"/>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202</TotalTime>
  <Words>867</Words>
  <Application>Microsoft Office PowerPoint</Application>
  <PresentationFormat>On-screen Show (4:3)</PresentationFormat>
  <Paragraphs>116</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Arial MT</vt:lpstr>
      <vt:lpstr>Times New Roman</vt:lpstr>
      <vt:lpstr>Office Theme</vt:lpstr>
      <vt:lpstr>Topic</vt:lpstr>
      <vt:lpstr>Table of Contents</vt:lpstr>
      <vt:lpstr>Problem Statement</vt:lpstr>
      <vt:lpstr>Objective / Purpose</vt:lpstr>
      <vt:lpstr>Main Topics / Sections</vt:lpstr>
      <vt:lpstr>Main Topics / Sections</vt:lpstr>
      <vt:lpstr>Future Scope</vt:lpstr>
      <vt:lpstr>Project Snippets</vt:lpstr>
      <vt:lpstr>Code Snippets</vt:lpstr>
      <vt:lpstr>Conclusion</vt:lpstr>
      <vt:lpstr>References</vt:lpstr>
      <vt:lpstr>Q&amp;A / Discussion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Arushi Gupta</dc:creator>
  <cp:lastModifiedBy>anshikaasija@gmail.com</cp:lastModifiedBy>
  <cp:revision>2</cp:revision>
  <dcterms:created xsi:type="dcterms:W3CDTF">2025-09-24T10:55:05Z</dcterms:created>
  <dcterms:modified xsi:type="dcterms:W3CDTF">2025-12-22T11:53:52Z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2025-03-11T00:00:00Z</vt:filetime>
  </property>
  <property fmtid="{D5CDD505-2E9C-101B-9397-08002B2CF9AE}" pid="3" name="Creator">
    <vt:lpwstr>Microsoft® PowerPoint® 2021</vt:lpwstr>
  </property>
  <property fmtid="{D5CDD505-2E9C-101B-9397-08002B2CF9AE}" pid="4" name="LastSaved">
    <vt:filetime>2025-09-24T00:00:00Z</vt:filetime>
  </property>
  <property fmtid="{D5CDD505-2E9C-101B-9397-08002B2CF9AE}" pid="5" name="Producer">
    <vt:lpwstr>Microsoft® PowerPoint® 2021</vt:lpwstr>
  </property>
</Properties>
</file>